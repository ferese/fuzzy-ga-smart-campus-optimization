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7006a8a04a341b5" /><Relationship Type="http://schemas.openxmlformats.org/officeDocument/2006/relationships/extended-properties" Target="/docProps/app.xml" Id="Rac25b34c29c54a1f" /><Relationship Type="http://schemas.openxmlformats.org/officeDocument/2006/relationships/officeDocument" Target="/ppt/presentation.xml" Id="R56f12d36e58b4080" /></Relationships>
</file>

<file path=ppt/presentation.xml><?xml version="1.0" encoding="utf-8"?>
<p:presentation xmlns:p="http://schemas.openxmlformats.org/presentationml/2006/main">
  <p:sldMasterIdLst>
    <p:sldMasterId xmlns:r="http://schemas.openxmlformats.org/officeDocument/2006/relationships" id="2147483648" r:id="R9495c1135dba43a6"/>
  </p:sldMasterIdLst>
  <p:notesMasterIdLst>
    <p:notesMasterId xmlns:r="http://schemas.openxmlformats.org/officeDocument/2006/relationships" r:id="Rf8277e74b281481e"/>
  </p:notesMasterIdLst>
  <p:sldIdLst>
    <p:sldId xmlns:r="http://schemas.openxmlformats.org/officeDocument/2006/relationships" id="256" r:id="R29f733dba0a74964"/>
    <p:sldId xmlns:r="http://schemas.openxmlformats.org/officeDocument/2006/relationships" id="257" r:id="R81aafedf4f994877"/>
    <p:sldId xmlns:r="http://schemas.openxmlformats.org/officeDocument/2006/relationships" id="258" r:id="R698bde3ba86d4116"/>
    <p:sldId xmlns:r="http://schemas.openxmlformats.org/officeDocument/2006/relationships" id="259" r:id="Reb2582e40e2f4bd5"/>
    <p:sldId xmlns:r="http://schemas.openxmlformats.org/officeDocument/2006/relationships" id="260" r:id="R6ccca95c055e4a24"/>
    <p:sldId xmlns:r="http://schemas.openxmlformats.org/officeDocument/2006/relationships" id="261" r:id="Rdd2b82d904164c3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448c9d2cdce4766" /><Relationship Type="http://schemas.openxmlformats.org/officeDocument/2006/relationships/slideMaster" Target="/ppt/slideMasters/slideMaster1.xml" Id="R9495c1135dba43a6" /><Relationship Type="http://schemas.openxmlformats.org/officeDocument/2006/relationships/notesMaster" Target="/ppt/notesMasters/notesMaster1.xml" Id="Rf8277e74b281481e" /><Relationship Type="http://schemas.openxmlformats.org/officeDocument/2006/relationships/presProps" Target="/ppt/presProps.xml" Id="Rd4d2233235b348e3" /><Relationship Type="http://schemas.openxmlformats.org/officeDocument/2006/relationships/tableStyles" Target="/ppt/tableStyles.xml" Id="Raaebad7e4aed4a9f" /><Relationship Type="http://schemas.openxmlformats.org/officeDocument/2006/relationships/slide" Target="/ppt/slides/slide1.xml" Id="R29f733dba0a74964" /><Relationship Type="http://schemas.openxmlformats.org/officeDocument/2006/relationships/slide" Target="/ppt/slides/slide2.xml" Id="R81aafedf4f994877" /><Relationship Type="http://schemas.openxmlformats.org/officeDocument/2006/relationships/slide" Target="/ppt/slides/slide3.xml" Id="R698bde3ba86d4116" /><Relationship Type="http://schemas.openxmlformats.org/officeDocument/2006/relationships/slide" Target="/ppt/slides/slide4.xml" Id="Reb2582e40e2f4bd5" /><Relationship Type="http://schemas.openxmlformats.org/officeDocument/2006/relationships/slide" Target="/ppt/slides/slide5.xml" Id="R6ccca95c055e4a24" /><Relationship Type="http://schemas.openxmlformats.org/officeDocument/2006/relationships/slide" Target="/ppt/slides/slide6.xml" Id="Rdd2b82d904164c3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cf29741c18e409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cf782ad55254d6e" /><Relationship Type="http://schemas.openxmlformats.org/officeDocument/2006/relationships/notesMaster" Target="/ppt/notesMasters/notesMaster1.xml" Id="R2d6f7e855223414d" /></Relationships>
</file>

<file path=ppt/notesSlides/_rels/notesSlide2.xml.rels>&#65279;<?xml version="1.0" encoding="utf-8"?><Relationships xmlns="http://schemas.openxmlformats.org/package/2006/relationships"><Relationship Type="http://schemas.openxmlformats.org/officeDocument/2006/relationships/slide" Target="/ppt/slides/slide2.xml" Id="R8340793c0e204a60" /><Relationship Type="http://schemas.openxmlformats.org/officeDocument/2006/relationships/notesMaster" Target="/ppt/notesMasters/notesMaster1.xml" Id="R85cdea30077f4b3f" /></Relationships>
</file>

<file path=ppt/notesSlides/_rels/notesSlide3.xml.rels>&#65279;<?xml version="1.0" encoding="utf-8"?><Relationships xmlns="http://schemas.openxmlformats.org/package/2006/relationships"><Relationship Type="http://schemas.openxmlformats.org/officeDocument/2006/relationships/slide" Target="/ppt/slides/slide3.xml" Id="Rf2be2f3f1ffd4e3f" /><Relationship Type="http://schemas.openxmlformats.org/officeDocument/2006/relationships/notesMaster" Target="/ppt/notesMasters/notesMaster1.xml" Id="R43d4c2210c76461c" /></Relationships>
</file>

<file path=ppt/notesSlides/_rels/notesSlide4.xml.rels>&#65279;<?xml version="1.0" encoding="utf-8"?><Relationships xmlns="http://schemas.openxmlformats.org/package/2006/relationships"><Relationship Type="http://schemas.openxmlformats.org/officeDocument/2006/relationships/slide" Target="/ppt/slides/slide4.xml" Id="Ra20fb889f9284fe1" /><Relationship Type="http://schemas.openxmlformats.org/officeDocument/2006/relationships/notesMaster" Target="/ppt/notesMasters/notesMaster1.xml" Id="Re31b5a26fc204107" /></Relationships>
</file>

<file path=ppt/notesSlides/_rels/notesSlide5.xml.rels>&#65279;<?xml version="1.0" encoding="utf-8"?><Relationships xmlns="http://schemas.openxmlformats.org/package/2006/relationships"><Relationship Type="http://schemas.openxmlformats.org/officeDocument/2006/relationships/slide" Target="/ppt/slides/slide5.xml" Id="R77e853380f0249b9" /><Relationship Type="http://schemas.openxmlformats.org/officeDocument/2006/relationships/notesMaster" Target="/ppt/notesMasters/notesMaster1.xml" Id="R14948f59409b4abd" /></Relationships>
</file>

<file path=ppt/notesSlides/_rels/notesSlide6.xml.rels>&#65279;<?xml version="1.0" encoding="utf-8"?><Relationships xmlns="http://schemas.openxmlformats.org/package/2006/relationships"><Relationship Type="http://schemas.openxmlformats.org/officeDocument/2006/relationships/slide" Target="/ppt/slides/slide6.xml" Id="Rabe9706f6792457a" /><Relationship Type="http://schemas.openxmlformats.org/officeDocument/2006/relationships/notesMaster" Target="/ppt/notesMasters/notesMaster1.xml" Id="R6bc892b34bff4e8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Based on the supplied paper, “A Fuzzy-GA Hybrid Framework for Smart Campus Energy Consumption Optimization Under Occupant Comfort Constraints.” The included demo is an independent educational implementation and does not reproduce the paper’s experiment.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source paper motivates the task using occupancy variation and thermal comfort. Its annual trace is synthetic; this slide describes the optimization problem, not measured campus outcomes.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supplied Fuzzy-GA paper, Sections IV–V. The prototype uses a compact 27-rule implementation, a one-hour scenario, and an educational energy proxy.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chromosome bounds, comfort terms, Mamdani-style inference and real-coded GA follow the supplied paper’s structure. This prototype uses a compact approximation; the objective and coefficients are not a calibrated building model.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source paper reports 21.4% savings in its own one-year synthetic academic-block trace. Local prototype result: fixed seed 7, comfort weight 0.4, 12 synthetic zones, one-hour energy proxy. Baseline 86.751 proxy kWh; optimized 59.144 proxy kWh; modeled mean absolute PMV 0.158 to 0.375; threshold violation rate 0% to 8.3%. The scenarios and evaluation methods differ, so the percentages must not be compared as equivalent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supplied paper itself lists model simplification, fixed PMV assumptions, synthetic energy data and lack of real occupant surveys as validity threats. This prototype is for demonstration and education, not operational dispatch.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e1e23fdcdc74ca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4005afc901c44a3" /><Relationship Type="http://schemas.openxmlformats.org/officeDocument/2006/relationships/slideLayout" Target="/ppt/slideLayouts/slideLayout1.xml" Id="R71cb5dcca2c54b0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1cb5dcca2c54b0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77ce49507f74116" /><Relationship Type="http://schemas.openxmlformats.org/officeDocument/2006/relationships/notesSlide" Target="/ppt/notesSlides/notesSlide1.xml" Id="Re8a103519072447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30ff35751204c47" /><Relationship Type="http://schemas.openxmlformats.org/officeDocument/2006/relationships/notesSlide" Target="/ppt/notesSlides/notesSlide2.xml" Id="R30d796ef66fa428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5cc447d9dfc4100" /><Relationship Type="http://schemas.openxmlformats.org/officeDocument/2006/relationships/notesSlide" Target="/ppt/notesSlides/notesSlide3.xml" Id="R7d83b0446a864a0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0cf5c5d0df24d59" /><Relationship Type="http://schemas.openxmlformats.org/officeDocument/2006/relationships/notesSlide" Target="/ppt/notesSlides/notesSlide4.xml" Id="R3697b03406754c7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2b7924dcdc24388" /><Relationship Type="http://schemas.openxmlformats.org/officeDocument/2006/relationships/notesSlide" Target="/ppt/notesSlides/notesSlide5.xml" Id="Reb3449570a61464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7ff5b2f8978421e" /><Relationship Type="http://schemas.openxmlformats.org/officeDocument/2006/relationships/notesSlide" Target="/ppt/notesSlides/notesSlide6.xml" Id="Re500bb0b0c054007" /></Relationships>
</file>

<file path=ppt/slides/slide1.xml><?xml version="1.0" encoding="utf-8"?>
<p:sld xmlns:p="http://schemas.openxmlformats.org/presentationml/2006/main">
  <p:cSld>
    <p:bg>
      <p:bgPr>
        <a:solidFill xmlns:a="http://schemas.openxmlformats.org/drawingml/2006/main">
          <a:srgbClr val="102A3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11DE055-54C5-4620-AD33-A59F0E044102}"/>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37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9473747-A2D4-418B-94BC-8260BAEE8FFF}"/>
              </a:ext>
            </a:extLst>
          </p:cNvPr>
          <p:cNvSpPr>
            <a:spLocks xmlns:a="http://schemas.openxmlformats.org/drawingml/2006/main" noGrp="1"/>
          </p:cNvSpPr>
          <p:nvPr/>
        </p:nvSpPr>
        <p:spPr>
          <a:xfrm xmlns:a="http://schemas.openxmlformats.org/drawingml/2006/main">
            <a:off x="714375" y="733425"/>
            <a:ext cx="800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a:solidFill>
                  <a:srgbClr val="7DD2C5"/>
                </a:solidFill>
                <a:latin typeface="Arial"/>
                <a:ea typeface="Arial"/>
                <a:cs typeface="Arial"/>
              </a:defRPr>
            </a:pPr>
            <a:r>
              <a:rPr sz="1200" b="1">
                <a:solidFill>
                  <a:srgbClr val="7DD2C5"/>
                </a:solidFill>
                <a:latin typeface="Arial"/>
                <a:ea typeface="Arial"/>
                <a:cs typeface="Arial"/>
              </a:rPr>
              <a:t>SMART CAMPUS ENERGY</a:t>
            </a:r>
          </a:p>
        </p:txBody>
      </p:sp>
      <p:sp>
        <p:nvSpPr>
          <p:cNvPr id="3" name="">
            <a:extLst xmlns:a="http://schemas.openxmlformats.org/drawingml/2006/main">
              <a:ext uri="{FF2B5EF4-FFF2-40B4-BE49-F238E27FC236}">
                <a16:creationId xmlns:a16="http://schemas.microsoft.com/office/drawing/2014/main" id="{0CB7D440-6471-411F-B87F-5FE9AC8E6FFE}"/>
              </a:ext>
            </a:extLst>
          </p:cNvPr>
          <p:cNvSpPr>
            <a:spLocks xmlns:a="http://schemas.openxmlformats.org/drawingml/2006/main" noGrp="1"/>
          </p:cNvSpPr>
          <p:nvPr/>
        </p:nvSpPr>
        <p:spPr>
          <a:xfrm xmlns:a="http://schemas.openxmlformats.org/drawingml/2006/main">
            <a:off x="714375" y="1276350"/>
            <a:ext cx="9144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200" b="1">
                <a:solidFill>
                  <a:srgbClr val="FFFFFF"/>
                </a:solidFill>
                <a:latin typeface="Arial"/>
                <a:ea typeface="Arial"/>
                <a:cs typeface="Arial"/>
              </a:defRPr>
            </a:pPr>
            <a:r>
              <a:rPr sz="4200" b="1">
                <a:solidFill>
                  <a:srgbClr val="FFFFFF"/>
                </a:solidFill>
                <a:latin typeface="Arial"/>
                <a:ea typeface="Arial"/>
                <a:cs typeface="Arial"/>
              </a:rPr>
              <a:t>Fuzzy-GA Hybrid</a:t>
            </a:r>
          </a:p>
          <a:p xmlns:a="http://schemas.openxmlformats.org/drawingml/2006/main">
            <a:pPr>
              <a:defRPr sz="4200" b="1">
                <a:solidFill>
                  <a:srgbClr val="FFFFFF"/>
                </a:solidFill>
                <a:latin typeface="Arial"/>
                <a:ea typeface="Arial"/>
                <a:cs typeface="Arial"/>
              </a:defRPr>
            </a:pPr>
            <a:r>
              <a:rPr sz="4200" b="1">
                <a:solidFill>
                  <a:srgbClr val="FFFFFF"/>
                </a:solidFill>
                <a:latin typeface="Arial"/>
                <a:ea typeface="Arial"/>
                <a:cs typeface="Arial"/>
              </a:rPr>
              <a:t>Optimization</a:t>
            </a:r>
          </a:p>
        </p:txBody>
      </p:sp>
      <p:sp>
        <p:nvSpPr>
          <p:cNvPr id="4" name="">
            <a:extLst xmlns:a="http://schemas.openxmlformats.org/drawingml/2006/main">
              <a:ext uri="{FF2B5EF4-FFF2-40B4-BE49-F238E27FC236}">
                <a16:creationId xmlns:a16="http://schemas.microsoft.com/office/drawing/2014/main" id="{74865ABF-5FFA-42D2-9854-BDD33F5059C4}"/>
              </a:ext>
            </a:extLst>
          </p:cNvPr>
          <p:cNvSpPr>
            <a:spLocks xmlns:a="http://schemas.openxmlformats.org/drawingml/2006/main" noGrp="1"/>
          </p:cNvSpPr>
          <p:nvPr/>
        </p:nvSpPr>
        <p:spPr>
          <a:xfrm xmlns:a="http://schemas.openxmlformats.org/drawingml/2006/main">
            <a:off x="752475" y="3190875"/>
            <a:ext cx="8524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75" b="0">
                <a:solidFill>
                  <a:srgbClr val="D5E2E8"/>
                </a:solidFill>
                <a:latin typeface="Arial"/>
                <a:ea typeface="Arial"/>
                <a:cs typeface="Arial"/>
              </a:defRPr>
            </a:pPr>
            <a:r>
              <a:rPr sz="1875" b="0">
                <a:solidFill>
                  <a:srgbClr val="D5E2E8"/>
                </a:solidFill>
                <a:latin typeface="Arial"/>
                <a:ea typeface="Arial"/>
                <a:cs typeface="Arial"/>
              </a:rPr>
              <a:t>Trading modeled energy use against occupant comfort, zone by zone</a:t>
            </a:r>
          </a:p>
        </p:txBody>
      </p:sp>
      <p:sp>
        <p:nvSpPr>
          <p:cNvPr id="5" name="">
            <a:extLst xmlns:a="http://schemas.openxmlformats.org/drawingml/2006/main">
              <a:ext uri="{FF2B5EF4-FFF2-40B4-BE49-F238E27FC236}">
                <a16:creationId xmlns:a16="http://schemas.microsoft.com/office/drawing/2014/main" id="{F6C6F48F-4098-4E2C-B2DD-3FC774E18AB4}"/>
              </a:ext>
            </a:extLst>
          </p:cNvPr>
          <p:cNvSpPr>
            <a:spLocks xmlns:a="http://schemas.openxmlformats.org/drawingml/2006/main" noGrp="1"/>
          </p:cNvSpPr>
          <p:nvPr/>
        </p:nvSpPr>
        <p:spPr>
          <a:xfrm xmlns:a="http://schemas.openxmlformats.org/drawingml/2006/main">
            <a:off x="762000" y="4410075"/>
            <a:ext cx="742950" cy="47625"/>
          </a:xfrm>
          <a:prstGeom xmlns:a="http://schemas.openxmlformats.org/drawingml/2006/main" prst="rect">
            <a:avLst/>
          </a:prstGeom>
          <a:solidFill xmlns:a="http://schemas.openxmlformats.org/drawingml/2006/main">
            <a:srgbClr val="DA8A45"/>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BC5B3134-BAA4-4561-8F92-2176F6AE58C1}"/>
              </a:ext>
            </a:extLst>
          </p:cNvPr>
          <p:cNvSpPr>
            <a:spLocks xmlns:a="http://schemas.openxmlformats.org/drawingml/2006/main" noGrp="1"/>
          </p:cNvSpPr>
          <p:nvPr/>
        </p:nvSpPr>
        <p:spPr>
          <a:xfrm xmlns:a="http://schemas.openxmlformats.org/drawingml/2006/main">
            <a:off x="762000" y="4648200"/>
            <a:ext cx="657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333"/>
          </a:bodyPr>
          <a:lstStyle xmlns:a="http://schemas.openxmlformats.org/drawingml/2006/main"/>
          <a:p xmlns:a="http://schemas.openxmlformats.org/drawingml/2006/main">
            <a:pPr>
              <a:defRPr sz="1500" b="1">
                <a:solidFill>
                  <a:srgbClr val="FFFFFF"/>
                </a:solidFill>
                <a:latin typeface="Arial"/>
                <a:ea typeface="Arial"/>
                <a:cs typeface="Arial"/>
              </a:defRPr>
            </a:pPr>
            <a:r>
              <a:rPr sz="1500" b="1">
                <a:solidFill>
                  <a:srgbClr val="FFFFFF"/>
                </a:solidFill>
                <a:latin typeface="Arial"/>
                <a:ea typeface="Arial"/>
                <a:cs typeface="Arial"/>
              </a:rPr>
              <a:t>A reproducible local simulation prototype</a:t>
            </a:r>
          </a:p>
        </p:txBody>
      </p:sp>
      <p:sp>
        <p:nvSpPr>
          <p:cNvPr id="7" name="">
            <a:extLst xmlns:a="http://schemas.openxmlformats.org/drawingml/2006/main">
              <a:ext uri="{FF2B5EF4-FFF2-40B4-BE49-F238E27FC236}">
                <a16:creationId xmlns:a16="http://schemas.microsoft.com/office/drawing/2014/main" id="{910E52CB-9BCC-489D-87F0-34288C09B4E1}"/>
              </a:ext>
            </a:extLst>
          </p:cNvPr>
          <p:cNvSpPr>
            <a:spLocks xmlns:a="http://schemas.openxmlformats.org/drawingml/2006/main" noGrp="1"/>
          </p:cNvSpPr>
          <p:nvPr/>
        </p:nvSpPr>
        <p:spPr>
          <a:xfrm xmlns:a="http://schemas.openxmlformats.org/drawingml/2006/main">
            <a:off x="762000" y="609600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000"/>
          </a:bodyPr>
          <a:lstStyle xmlns:a="http://schemas.openxmlformats.org/drawingml/2006/main"/>
          <a:p xmlns:a="http://schemas.openxmlformats.org/drawingml/2006/main">
            <a:pPr>
              <a:defRPr sz="1125" b="0">
                <a:solidFill>
                  <a:srgbClr val="AFC1CB"/>
                </a:solidFill>
                <a:latin typeface="Arial"/>
                <a:ea typeface="Arial"/>
                <a:cs typeface="Arial"/>
              </a:defRPr>
            </a:pPr>
            <a:r>
              <a:rPr sz="1125" b="0">
                <a:solidFill>
                  <a:srgbClr val="AFC1CB"/>
                </a:solidFill>
                <a:latin typeface="Arial"/>
                <a:ea typeface="Arial"/>
                <a:cs typeface="Arial"/>
              </a:rPr>
              <a:t>Faculty presentation  ·  9 October 2026</a:t>
            </a:r>
          </a:p>
        </p:txBody>
      </p:sp>
    </p:spTree>
    <p:extLst>
      <p:ext uri="{BB962C8B-B14F-4D97-AF65-F5344CB8AC3E}">
        <p14:creationId xmlns:p14="http://schemas.microsoft.com/office/powerpoint/2010/main" val="605308838"/>
      </p:ext>
    </p:extLst>
  </p:cSld>
</p:sld>
</file>

<file path=ppt/slides/slide2.xml><?xml version="1.0" encoding="utf-8"?>
<p:sld xmlns:p="http://schemas.openxmlformats.org/presentationml/2006/main">
  <p:cSld>
    <p:bg>
      <p:bgPr>
        <a:solidFill xmlns:a="http://schemas.openxmlformats.org/drawingml/2006/main">
          <a:srgbClr val="F6F8F7"/>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6E3F5965-5287-4F23-9675-3A3F1BD809D6}"/>
              </a:ext>
            </a:extLst>
          </p:cNvPr>
          <p:cNvSpPr>
            <a:spLocks xmlns:a="http://schemas.openxmlformats.org/drawingml/2006/main" noGrp="1"/>
          </p:cNvSpPr>
          <p:nvPr/>
        </p:nvSpPr>
        <p:spPr>
          <a:xfrm xmlns:a="http://schemas.openxmlformats.org/drawingml/2006/main">
            <a:off x="685800" y="333375"/>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667"/>
          </a:bodyPr>
          <a:lstStyle xmlns:a="http://schemas.openxmlformats.org/drawingml/2006/main"/>
          <a:p xmlns:a="http://schemas.openxmlformats.org/drawingml/2006/main">
            <a:pPr>
              <a:defRPr sz="1050" b="1">
                <a:solidFill>
                  <a:srgbClr val="137C78"/>
                </a:solidFill>
                <a:latin typeface="Arial"/>
                <a:ea typeface="Arial"/>
                <a:cs typeface="Arial"/>
              </a:defRPr>
            </a:pPr>
            <a:r>
              <a:rPr sz="1050" b="1">
                <a:solidFill>
                  <a:srgbClr val="137C78"/>
                </a:solidFill>
                <a:latin typeface="Arial"/>
                <a:ea typeface="Arial"/>
                <a:cs typeface="Arial"/>
              </a:rPr>
              <a:t>PROBLEM</a:t>
            </a:r>
          </a:p>
        </p:txBody>
      </p:sp>
      <p:sp>
        <p:nvSpPr>
          <p:cNvPr id="2" name="">
            <a:extLst xmlns:a="http://schemas.openxmlformats.org/drawingml/2006/main">
              <a:ext uri="{FF2B5EF4-FFF2-40B4-BE49-F238E27FC236}">
                <a16:creationId xmlns:a16="http://schemas.microsoft.com/office/drawing/2014/main" id="{FAE6FE75-DA53-4FF9-9243-BECA4AA212B0}"/>
              </a:ext>
            </a:extLst>
          </p:cNvPr>
          <p:cNvSpPr>
            <a:spLocks xmlns:a="http://schemas.openxmlformats.org/drawingml/2006/main" noGrp="1"/>
          </p:cNvSpPr>
          <p:nvPr/>
        </p:nvSpPr>
        <p:spPr>
          <a:xfrm xmlns:a="http://schemas.openxmlformats.org/drawingml/2006/main">
            <a:off x="685800" y="647700"/>
            <a:ext cx="10810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700" b="1">
                <a:solidFill>
                  <a:srgbClr val="102A3B"/>
                </a:solidFill>
                <a:latin typeface="Arial"/>
                <a:ea typeface="Arial"/>
                <a:cs typeface="Arial"/>
              </a:defRPr>
            </a:pPr>
            <a:r>
              <a:rPr sz="2700" b="1">
                <a:solidFill>
                  <a:srgbClr val="102A3B"/>
                </a:solidFill>
                <a:latin typeface="Arial"/>
                <a:ea typeface="Arial"/>
                <a:cs typeface="Arial"/>
              </a:rPr>
              <a:t>The control problem is a trade-off</a:t>
            </a:r>
          </a:p>
        </p:txBody>
      </p:sp>
      <p:sp>
        <p:nvSpPr>
          <p:cNvPr id="3" name="">
            <a:extLst xmlns:a="http://schemas.openxmlformats.org/drawingml/2006/main">
              <a:ext uri="{FF2B5EF4-FFF2-40B4-BE49-F238E27FC236}">
                <a16:creationId xmlns:a16="http://schemas.microsoft.com/office/drawing/2014/main" id="{2545F21E-3412-4406-A75E-9C45AA534B6F}"/>
              </a:ext>
            </a:extLst>
          </p:cNvPr>
          <p:cNvSpPr>
            <a:spLocks xmlns:a="http://schemas.openxmlformats.org/drawingml/2006/main" noGrp="1"/>
          </p:cNvSpPr>
          <p:nvPr/>
        </p:nvSpPr>
        <p:spPr>
          <a:xfrm xmlns:a="http://schemas.openxmlformats.org/drawingml/2006/main">
            <a:off x="685800" y="1390650"/>
            <a:ext cx="514350" cy="38100"/>
          </a:xfrm>
          <a:prstGeom xmlns:a="http://schemas.openxmlformats.org/drawingml/2006/main" prst="rect">
            <a:avLst/>
          </a:prstGeom>
          <a:solidFill xmlns:a="http://schemas.openxmlformats.org/drawingml/2006/main">
            <a:srgbClr val="137C7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F482525-05DE-4683-B255-203E3475344E}"/>
              </a:ext>
            </a:extLst>
          </p:cNvPr>
          <p:cNvSpPr>
            <a:spLocks xmlns:a="http://schemas.openxmlformats.org/drawingml/2006/main" noGrp="1"/>
          </p:cNvSpPr>
          <p:nvPr/>
        </p:nvSpPr>
        <p:spPr>
          <a:xfrm xmlns:a="http://schemas.openxmlformats.org/drawingml/2006/main">
            <a:off x="685800" y="6486525"/>
            <a:ext cx="7239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2222"/>
          </a:bodyPr>
          <a:lstStyle xmlns:a="http://schemas.openxmlformats.org/drawingml/2006/main"/>
          <a:p xmlns:a="http://schemas.openxmlformats.org/drawingml/2006/main">
            <a:pPr>
              <a:defRPr sz="900" b="0">
                <a:solidFill>
                  <a:srgbClr val="607785"/>
                </a:solidFill>
                <a:latin typeface="Arial"/>
                <a:ea typeface="Arial"/>
                <a:cs typeface="Arial"/>
              </a:defRPr>
            </a:pPr>
            <a:r>
              <a:rPr sz="900" b="0">
                <a:solidFill>
                  <a:srgbClr val="607785"/>
                </a:solidFill>
                <a:latin typeface="Arial"/>
                <a:ea typeface="Arial"/>
                <a:cs typeface="Arial"/>
              </a:rPr>
              <a:t>Fuzzy-GA Smart Campus Energy Optimization</a:t>
            </a:r>
          </a:p>
        </p:txBody>
      </p:sp>
      <p:sp>
        <p:nvSpPr>
          <p:cNvPr id="5" name="">
            <a:extLst xmlns:a="http://schemas.openxmlformats.org/drawingml/2006/main">
              <a:ext uri="{FF2B5EF4-FFF2-40B4-BE49-F238E27FC236}">
                <a16:creationId xmlns:a16="http://schemas.microsoft.com/office/drawing/2014/main" id="{09B6A2CC-4A60-4C48-A09A-8B65C9CC7885}"/>
              </a:ext>
            </a:extLst>
          </p:cNvPr>
          <p:cNvSpPr>
            <a:spLocks xmlns:a="http://schemas.openxmlformats.org/drawingml/2006/main" noGrp="1"/>
          </p:cNvSpPr>
          <p:nvPr/>
        </p:nvSpPr>
        <p:spPr>
          <a:xfrm xmlns:a="http://schemas.openxmlformats.org/drawingml/2006/main">
            <a:off x="685800" y="1809750"/>
            <a:ext cx="10287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123"/>
          </a:bodyPr>
          <a:lstStyle xmlns:a="http://schemas.openxmlformats.org/drawingml/2006/main"/>
          <a:p xmlns:a="http://schemas.openxmlformats.org/drawingml/2006/main">
            <a:pPr>
              <a:defRPr sz="2025" b="1">
                <a:solidFill>
                  <a:srgbClr val="19384A"/>
                </a:solidFill>
                <a:latin typeface="Arial"/>
                <a:ea typeface="Arial"/>
                <a:cs typeface="Arial"/>
              </a:defRPr>
            </a:pPr>
            <a:r>
              <a:rPr sz="2025" b="1">
                <a:solidFill>
                  <a:srgbClr val="19384A"/>
                </a:solidFill>
                <a:latin typeface="Arial"/>
                <a:ea typeface="Arial"/>
                <a:cs typeface="Arial"/>
              </a:rPr>
              <a:t>A fixed schedule applies the same policy across rooms whose use changes through the day.</a:t>
            </a:r>
          </a:p>
        </p:txBody>
      </p:sp>
      <p:sp>
        <p:nvSpPr>
          <p:cNvPr id="6" name="">
            <a:extLst xmlns:a="http://schemas.openxmlformats.org/drawingml/2006/main">
              <a:ext uri="{FF2B5EF4-FFF2-40B4-BE49-F238E27FC236}">
                <a16:creationId xmlns:a16="http://schemas.microsoft.com/office/drawing/2014/main" id="{B5278D6A-D5CF-4D07-8636-0E9D63586233}"/>
              </a:ext>
            </a:extLst>
          </p:cNvPr>
          <p:cNvSpPr>
            <a:spLocks xmlns:a="http://schemas.openxmlformats.org/drawingml/2006/main" noGrp="1"/>
          </p:cNvSpPr>
          <p:nvPr/>
        </p:nvSpPr>
        <p:spPr>
          <a:xfrm xmlns:a="http://schemas.openxmlformats.org/drawingml/2006/main">
            <a:off x="714375" y="2952750"/>
            <a:ext cx="257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111"/>
          </a:bodyPr>
          <a:lstStyle xmlns:a="http://schemas.openxmlformats.org/drawingml/2006/main"/>
          <a:p xmlns:a="http://schemas.openxmlformats.org/drawingml/2006/main">
            <a:pPr>
              <a:defRPr sz="1125" b="1">
                <a:solidFill>
                  <a:srgbClr val="137C78"/>
                </a:solidFill>
                <a:latin typeface="Arial"/>
                <a:ea typeface="Arial"/>
                <a:cs typeface="Arial"/>
              </a:defRPr>
            </a:pPr>
            <a:r>
              <a:rPr sz="1125" b="1">
                <a:solidFill>
                  <a:srgbClr val="137C78"/>
                </a:solidFill>
                <a:latin typeface="Arial"/>
                <a:ea typeface="Arial"/>
                <a:cs typeface="Arial"/>
              </a:rPr>
              <a:t>EMPTY ROOM</a:t>
            </a:r>
          </a:p>
        </p:txBody>
      </p:sp>
      <p:sp>
        <p:nvSpPr>
          <p:cNvPr id="7" name="">
            <a:extLst xmlns:a="http://schemas.openxmlformats.org/drawingml/2006/main">
              <a:ext uri="{FF2B5EF4-FFF2-40B4-BE49-F238E27FC236}">
                <a16:creationId xmlns:a16="http://schemas.microsoft.com/office/drawing/2014/main" id="{89334F79-7352-4825-9B64-0B888B5AA7F6}"/>
              </a:ext>
            </a:extLst>
          </p:cNvPr>
          <p:cNvSpPr>
            <a:spLocks xmlns:a="http://schemas.openxmlformats.org/drawingml/2006/main" noGrp="1"/>
          </p:cNvSpPr>
          <p:nvPr/>
        </p:nvSpPr>
        <p:spPr>
          <a:xfrm xmlns:a="http://schemas.openxmlformats.org/drawingml/2006/main">
            <a:off x="714375" y="3286125"/>
            <a:ext cx="285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650" b="0">
                <a:solidFill>
                  <a:srgbClr val="19384A"/>
                </a:solidFill>
                <a:latin typeface="Arial"/>
                <a:ea typeface="Arial"/>
                <a:cs typeface="Arial"/>
              </a:defRPr>
            </a:pPr>
            <a:r>
              <a:rPr sz="1650" b="0">
                <a:solidFill>
                  <a:srgbClr val="19384A"/>
                </a:solidFill>
                <a:latin typeface="Arial"/>
                <a:ea typeface="Arial"/>
                <a:cs typeface="Arial"/>
              </a:rPr>
              <a:t>Unnecessary cooling and lighting add avoidable load.</a:t>
            </a:r>
          </a:p>
        </p:txBody>
      </p:sp>
      <p:sp>
        <p:nvSpPr>
          <p:cNvPr id="8" name="">
            <a:extLst xmlns:a="http://schemas.openxmlformats.org/drawingml/2006/main">
              <a:ext uri="{FF2B5EF4-FFF2-40B4-BE49-F238E27FC236}">
                <a16:creationId xmlns:a16="http://schemas.microsoft.com/office/drawing/2014/main" id="{44721E60-866F-4073-A589-BECA66311BB9}"/>
              </a:ext>
            </a:extLst>
          </p:cNvPr>
          <p:cNvSpPr>
            <a:spLocks xmlns:a="http://schemas.openxmlformats.org/drawingml/2006/main" noGrp="1"/>
          </p:cNvSpPr>
          <p:nvPr/>
        </p:nvSpPr>
        <p:spPr>
          <a:xfrm xmlns:a="http://schemas.openxmlformats.org/drawingml/2006/main">
            <a:off x="4143375" y="2952750"/>
            <a:ext cx="19050" cy="1428750"/>
          </a:xfrm>
          <a:prstGeom xmlns:a="http://schemas.openxmlformats.org/drawingml/2006/main" prst="rect">
            <a:avLst/>
          </a:prstGeom>
          <a:solidFill xmlns:a="http://schemas.openxmlformats.org/drawingml/2006/main">
            <a:srgbClr val="D9E3E5"/>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E1D9FC48-E67A-4C29-B779-1EB763275FA5}"/>
              </a:ext>
            </a:extLst>
          </p:cNvPr>
          <p:cNvSpPr>
            <a:spLocks xmlns:a="http://schemas.openxmlformats.org/drawingml/2006/main" noGrp="1"/>
          </p:cNvSpPr>
          <p:nvPr/>
        </p:nvSpPr>
        <p:spPr>
          <a:xfrm xmlns:a="http://schemas.openxmlformats.org/drawingml/2006/main">
            <a:off x="4572000" y="2952750"/>
            <a:ext cx="257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111"/>
          </a:bodyPr>
          <a:lstStyle xmlns:a="http://schemas.openxmlformats.org/drawingml/2006/main"/>
          <a:p xmlns:a="http://schemas.openxmlformats.org/drawingml/2006/main">
            <a:pPr>
              <a:defRPr sz="1125" b="1">
                <a:solidFill>
                  <a:srgbClr val="137C78"/>
                </a:solidFill>
                <a:latin typeface="Arial"/>
                <a:ea typeface="Arial"/>
                <a:cs typeface="Arial"/>
              </a:defRPr>
            </a:pPr>
            <a:r>
              <a:rPr sz="1125" b="1">
                <a:solidFill>
                  <a:srgbClr val="137C78"/>
                </a:solidFill>
                <a:latin typeface="Arial"/>
                <a:ea typeface="Arial"/>
                <a:cs typeface="Arial"/>
              </a:rPr>
              <a:t>BUSY ROOM</a:t>
            </a:r>
          </a:p>
        </p:txBody>
      </p:sp>
      <p:sp>
        <p:nvSpPr>
          <p:cNvPr id="10" name="">
            <a:extLst xmlns:a="http://schemas.openxmlformats.org/drawingml/2006/main">
              <a:ext uri="{FF2B5EF4-FFF2-40B4-BE49-F238E27FC236}">
                <a16:creationId xmlns:a16="http://schemas.microsoft.com/office/drawing/2014/main" id="{F78103D7-092B-4899-8BEE-660E4549EF86}"/>
              </a:ext>
            </a:extLst>
          </p:cNvPr>
          <p:cNvSpPr>
            <a:spLocks xmlns:a="http://schemas.openxmlformats.org/drawingml/2006/main" noGrp="1"/>
          </p:cNvSpPr>
          <p:nvPr/>
        </p:nvSpPr>
        <p:spPr>
          <a:xfrm xmlns:a="http://schemas.openxmlformats.org/drawingml/2006/main">
            <a:off x="4572000" y="3286125"/>
            <a:ext cx="30003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650" b="0">
                <a:solidFill>
                  <a:srgbClr val="19384A"/>
                </a:solidFill>
                <a:latin typeface="Arial"/>
                <a:ea typeface="Arial"/>
                <a:cs typeface="Arial"/>
              </a:defRPr>
            </a:pPr>
            <a:r>
              <a:rPr sz="1650" b="0">
                <a:solidFill>
                  <a:srgbClr val="19384A"/>
                </a:solidFill>
                <a:latin typeface="Arial"/>
                <a:ea typeface="Arial"/>
                <a:cs typeface="Arial"/>
              </a:rPr>
              <a:t>Relaxed setpoints can increase discomfort when occupancy is high.</a:t>
            </a:r>
          </a:p>
        </p:txBody>
      </p:sp>
      <p:sp>
        <p:nvSpPr>
          <p:cNvPr id="11" name="">
            <a:extLst xmlns:a="http://schemas.openxmlformats.org/drawingml/2006/main">
              <a:ext uri="{FF2B5EF4-FFF2-40B4-BE49-F238E27FC236}">
                <a16:creationId xmlns:a16="http://schemas.microsoft.com/office/drawing/2014/main" id="{6E1E3353-7B3C-4D5F-A9B8-73A230BB5D2B}"/>
              </a:ext>
            </a:extLst>
          </p:cNvPr>
          <p:cNvSpPr>
            <a:spLocks xmlns:a="http://schemas.openxmlformats.org/drawingml/2006/main" noGrp="1"/>
          </p:cNvSpPr>
          <p:nvPr/>
        </p:nvSpPr>
        <p:spPr>
          <a:xfrm xmlns:a="http://schemas.openxmlformats.org/drawingml/2006/main">
            <a:off x="8096250" y="2952750"/>
            <a:ext cx="19050" cy="1428750"/>
          </a:xfrm>
          <a:prstGeom xmlns:a="http://schemas.openxmlformats.org/drawingml/2006/main" prst="rect">
            <a:avLst/>
          </a:prstGeom>
          <a:solidFill xmlns:a="http://schemas.openxmlformats.org/drawingml/2006/main">
            <a:srgbClr val="D9E3E5"/>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7AEE2AE1-C483-4755-93C5-4097CD459158}"/>
              </a:ext>
            </a:extLst>
          </p:cNvPr>
          <p:cNvSpPr>
            <a:spLocks xmlns:a="http://schemas.openxmlformats.org/drawingml/2006/main" noGrp="1"/>
          </p:cNvSpPr>
          <p:nvPr/>
        </p:nvSpPr>
        <p:spPr>
          <a:xfrm xmlns:a="http://schemas.openxmlformats.org/drawingml/2006/main">
            <a:off x="8524875" y="2952750"/>
            <a:ext cx="266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111"/>
          </a:bodyPr>
          <a:lstStyle xmlns:a="http://schemas.openxmlformats.org/drawingml/2006/main"/>
          <a:p xmlns:a="http://schemas.openxmlformats.org/drawingml/2006/main">
            <a:pPr>
              <a:defRPr sz="1125" b="1">
                <a:solidFill>
                  <a:srgbClr val="137C78"/>
                </a:solidFill>
                <a:latin typeface="Arial"/>
                <a:ea typeface="Arial"/>
                <a:cs typeface="Arial"/>
              </a:defRPr>
            </a:pPr>
            <a:r>
              <a:rPr sz="1125" b="1">
                <a:solidFill>
                  <a:srgbClr val="137C78"/>
                </a:solidFill>
                <a:latin typeface="Arial"/>
                <a:ea typeface="Arial"/>
                <a:cs typeface="Arial"/>
              </a:rPr>
              <a:t>DESIGN GOAL</a:t>
            </a:r>
          </a:p>
        </p:txBody>
      </p:sp>
      <p:sp>
        <p:nvSpPr>
          <p:cNvPr id="13" name="">
            <a:extLst xmlns:a="http://schemas.openxmlformats.org/drawingml/2006/main">
              <a:ext uri="{FF2B5EF4-FFF2-40B4-BE49-F238E27FC236}">
                <a16:creationId xmlns:a16="http://schemas.microsoft.com/office/drawing/2014/main" id="{03449608-F722-49E7-ABCF-91C84F3D93C6}"/>
              </a:ext>
            </a:extLst>
          </p:cNvPr>
          <p:cNvSpPr>
            <a:spLocks xmlns:a="http://schemas.openxmlformats.org/drawingml/2006/main" noGrp="1"/>
          </p:cNvSpPr>
          <p:nvPr/>
        </p:nvSpPr>
        <p:spPr>
          <a:xfrm xmlns:a="http://schemas.openxmlformats.org/drawingml/2006/main">
            <a:off x="8524875" y="3286125"/>
            <a:ext cx="295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650" b="0">
                <a:solidFill>
                  <a:srgbClr val="19384A"/>
                </a:solidFill>
                <a:latin typeface="Arial"/>
                <a:ea typeface="Arial"/>
                <a:cs typeface="Arial"/>
              </a:defRPr>
            </a:pPr>
            <a:r>
              <a:rPr sz="1650" b="0">
                <a:solidFill>
                  <a:srgbClr val="19384A"/>
                </a:solidFill>
                <a:latin typeface="Arial"/>
                <a:ea typeface="Arial"/>
                <a:cs typeface="Arial"/>
              </a:rPr>
              <a:t>Reduce modeled energy while keeping comfort risk visible in the objective.</a:t>
            </a:r>
          </a:p>
        </p:txBody>
      </p:sp>
      <p:sp>
        <p:nvSpPr>
          <p:cNvPr id="14" name="">
            <a:extLst xmlns:a="http://schemas.openxmlformats.org/drawingml/2006/main">
              <a:ext uri="{FF2B5EF4-FFF2-40B4-BE49-F238E27FC236}">
                <a16:creationId xmlns:a16="http://schemas.microsoft.com/office/drawing/2014/main" id="{EC0228E2-5FDC-4903-AAA0-725F064B3F0D}"/>
              </a:ext>
            </a:extLst>
          </p:cNvPr>
          <p:cNvSpPr>
            <a:spLocks xmlns:a="http://schemas.openxmlformats.org/drawingml/2006/main" noGrp="1"/>
          </p:cNvSpPr>
          <p:nvPr/>
        </p:nvSpPr>
        <p:spPr>
          <a:xfrm xmlns:a="http://schemas.openxmlformats.org/drawingml/2006/main">
            <a:off x="685800" y="4914900"/>
            <a:ext cx="10820400" cy="9525"/>
          </a:xfrm>
          <a:prstGeom xmlns:a="http://schemas.openxmlformats.org/drawingml/2006/main" prst="rect">
            <a:avLst/>
          </a:prstGeom>
          <a:solidFill xmlns:a="http://schemas.openxmlformats.org/drawingml/2006/main">
            <a:srgbClr val="D9E3E5"/>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789F023D-6C73-49CB-821E-8C4EE2DDB532}"/>
              </a:ext>
            </a:extLst>
          </p:cNvPr>
          <p:cNvSpPr>
            <a:spLocks xmlns:a="http://schemas.openxmlformats.org/drawingml/2006/main" noGrp="1"/>
          </p:cNvSpPr>
          <p:nvPr/>
        </p:nvSpPr>
        <p:spPr>
          <a:xfrm xmlns:a="http://schemas.openxmlformats.org/drawingml/2006/main">
            <a:off x="685800" y="5153025"/>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607785"/>
                </a:solidFill>
                <a:latin typeface="Arial"/>
                <a:ea typeface="Arial"/>
                <a:cs typeface="Arial"/>
              </a:defRPr>
            </a:pPr>
            <a:r>
              <a:rPr sz="1200" b="1">
                <a:solidFill>
                  <a:srgbClr val="607785"/>
                </a:solidFill>
                <a:latin typeface="Arial"/>
                <a:ea typeface="Arial"/>
                <a:cs typeface="Arial"/>
              </a:rPr>
              <a:t>Optimization target</a:t>
            </a:r>
          </a:p>
        </p:txBody>
      </p:sp>
      <p:sp>
        <p:nvSpPr>
          <p:cNvPr id="16" name="">
            <a:extLst xmlns:a="http://schemas.openxmlformats.org/drawingml/2006/main">
              <a:ext uri="{FF2B5EF4-FFF2-40B4-BE49-F238E27FC236}">
                <a16:creationId xmlns:a16="http://schemas.microsoft.com/office/drawing/2014/main" id="{E885201E-43FC-4382-9EE5-08B157280592}"/>
              </a:ext>
            </a:extLst>
          </p:cNvPr>
          <p:cNvSpPr>
            <a:spLocks xmlns:a="http://schemas.openxmlformats.org/drawingml/2006/main" noGrp="1"/>
          </p:cNvSpPr>
          <p:nvPr/>
        </p:nvSpPr>
        <p:spPr>
          <a:xfrm xmlns:a="http://schemas.openxmlformats.org/drawingml/2006/main">
            <a:off x="2876550" y="5048250"/>
            <a:ext cx="8001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00" b="1">
                <a:solidFill>
                  <a:srgbClr val="102A3B"/>
                </a:solidFill>
                <a:latin typeface="Arial"/>
                <a:ea typeface="Arial"/>
                <a:cs typeface="Arial"/>
              </a:defRPr>
            </a:pPr>
            <a:r>
              <a:rPr sz="1800" b="1">
                <a:solidFill>
                  <a:srgbClr val="102A3B"/>
                </a:solidFill>
                <a:latin typeface="Arial"/>
                <a:ea typeface="Arial"/>
                <a:cs typeface="Arial"/>
              </a:rPr>
              <a:t>Zone-specific setpoint  +  ventilation  +  lighting</a:t>
            </a:r>
          </a:p>
        </p:txBody>
      </p:sp>
    </p:spTree>
    <p:extLst>
      <p:ext uri="{BB962C8B-B14F-4D97-AF65-F5344CB8AC3E}">
        <p14:creationId xmlns:p14="http://schemas.microsoft.com/office/powerpoint/2010/main" val="974181861"/>
      </p:ext>
    </p:extLst>
  </p:cSld>
</p:sld>
</file>

<file path=ppt/slides/slide3.xml><?xml version="1.0" encoding="utf-8"?>
<p:sld xmlns:p="http://schemas.openxmlformats.org/presentationml/2006/main">
  <p:cSld>
    <p:bg>
      <p:bgPr>
        <a:solidFill xmlns:a="http://schemas.openxmlformats.org/drawingml/2006/main">
          <a:srgbClr val="F6F8F7"/>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2158F281-BE7D-44F6-9D59-DC42A009DEAC}"/>
              </a:ext>
            </a:extLst>
          </p:cNvPr>
          <p:cNvSpPr>
            <a:spLocks xmlns:a="http://schemas.openxmlformats.org/drawingml/2006/main" noGrp="1"/>
          </p:cNvSpPr>
          <p:nvPr/>
        </p:nvSpPr>
        <p:spPr>
          <a:xfrm xmlns:a="http://schemas.openxmlformats.org/drawingml/2006/main">
            <a:off x="685800" y="333375"/>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667"/>
          </a:bodyPr>
          <a:lstStyle xmlns:a="http://schemas.openxmlformats.org/drawingml/2006/main"/>
          <a:p xmlns:a="http://schemas.openxmlformats.org/drawingml/2006/main">
            <a:pPr>
              <a:defRPr sz="1050" b="1">
                <a:solidFill>
                  <a:srgbClr val="137C78"/>
                </a:solidFill>
                <a:latin typeface="Arial"/>
                <a:ea typeface="Arial"/>
                <a:cs typeface="Arial"/>
              </a:defRPr>
            </a:pPr>
            <a:r>
              <a:rPr sz="1050" b="1">
                <a:solidFill>
                  <a:srgbClr val="137C78"/>
                </a:solidFill>
                <a:latin typeface="Arial"/>
                <a:ea typeface="Arial"/>
                <a:cs typeface="Arial"/>
              </a:rPr>
              <a:t>METHOD</a:t>
            </a:r>
          </a:p>
        </p:txBody>
      </p:sp>
      <p:sp>
        <p:nvSpPr>
          <p:cNvPr id="2" name="">
            <a:extLst xmlns:a="http://schemas.openxmlformats.org/drawingml/2006/main">
              <a:ext uri="{FF2B5EF4-FFF2-40B4-BE49-F238E27FC236}">
                <a16:creationId xmlns:a16="http://schemas.microsoft.com/office/drawing/2014/main" id="{C5029FEB-7467-49E0-BA02-9B0A89D6D929}"/>
              </a:ext>
            </a:extLst>
          </p:cNvPr>
          <p:cNvSpPr>
            <a:spLocks xmlns:a="http://schemas.openxmlformats.org/drawingml/2006/main" noGrp="1"/>
          </p:cNvSpPr>
          <p:nvPr/>
        </p:nvSpPr>
        <p:spPr>
          <a:xfrm xmlns:a="http://schemas.openxmlformats.org/drawingml/2006/main">
            <a:off x="685800" y="647700"/>
            <a:ext cx="10810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700" b="1">
                <a:solidFill>
                  <a:srgbClr val="102A3B"/>
                </a:solidFill>
                <a:latin typeface="Arial"/>
                <a:ea typeface="Arial"/>
                <a:cs typeface="Arial"/>
              </a:defRPr>
            </a:pPr>
            <a:r>
              <a:rPr sz="2700" b="1">
                <a:solidFill>
                  <a:srgbClr val="102A3B"/>
                </a:solidFill>
                <a:latin typeface="Arial"/>
                <a:ea typeface="Arial"/>
                <a:cs typeface="Arial"/>
              </a:rPr>
              <a:t>Fuzzy reasoning guides the genetic search</a:t>
            </a:r>
          </a:p>
        </p:txBody>
      </p:sp>
      <p:sp>
        <p:nvSpPr>
          <p:cNvPr id="3" name="">
            <a:extLst xmlns:a="http://schemas.openxmlformats.org/drawingml/2006/main">
              <a:ext uri="{FF2B5EF4-FFF2-40B4-BE49-F238E27FC236}">
                <a16:creationId xmlns:a16="http://schemas.microsoft.com/office/drawing/2014/main" id="{C0BD9D0F-E5F8-4DAF-9B5C-8834E3527F3D}"/>
              </a:ext>
            </a:extLst>
          </p:cNvPr>
          <p:cNvSpPr>
            <a:spLocks xmlns:a="http://schemas.openxmlformats.org/drawingml/2006/main" noGrp="1"/>
          </p:cNvSpPr>
          <p:nvPr/>
        </p:nvSpPr>
        <p:spPr>
          <a:xfrm xmlns:a="http://schemas.openxmlformats.org/drawingml/2006/main">
            <a:off x="685800" y="1390650"/>
            <a:ext cx="514350" cy="38100"/>
          </a:xfrm>
          <a:prstGeom xmlns:a="http://schemas.openxmlformats.org/drawingml/2006/main" prst="rect">
            <a:avLst/>
          </a:prstGeom>
          <a:solidFill xmlns:a="http://schemas.openxmlformats.org/drawingml/2006/main">
            <a:srgbClr val="137C7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8E3326A-FD47-4965-957B-C20D28F1B6A1}"/>
              </a:ext>
            </a:extLst>
          </p:cNvPr>
          <p:cNvSpPr>
            <a:spLocks xmlns:a="http://schemas.openxmlformats.org/drawingml/2006/main" noGrp="1"/>
          </p:cNvSpPr>
          <p:nvPr/>
        </p:nvSpPr>
        <p:spPr>
          <a:xfrm xmlns:a="http://schemas.openxmlformats.org/drawingml/2006/main">
            <a:off x="685800" y="6486525"/>
            <a:ext cx="7239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2222"/>
          </a:bodyPr>
          <a:lstStyle xmlns:a="http://schemas.openxmlformats.org/drawingml/2006/main"/>
          <a:p xmlns:a="http://schemas.openxmlformats.org/drawingml/2006/main">
            <a:pPr>
              <a:defRPr sz="900" b="0">
                <a:solidFill>
                  <a:srgbClr val="607785"/>
                </a:solidFill>
                <a:latin typeface="Arial"/>
                <a:ea typeface="Arial"/>
                <a:cs typeface="Arial"/>
              </a:defRPr>
            </a:pPr>
            <a:r>
              <a:rPr sz="900" b="0">
                <a:solidFill>
                  <a:srgbClr val="607785"/>
                </a:solidFill>
                <a:latin typeface="Arial"/>
                <a:ea typeface="Arial"/>
                <a:cs typeface="Arial"/>
              </a:rPr>
              <a:t>Fuzzy-GA Smart Campus Energy Optimization</a:t>
            </a:r>
          </a:p>
        </p:txBody>
      </p:sp>
      <p:sp>
        <p:nvSpPr>
          <p:cNvPr id="5" name="">
            <a:extLst xmlns:a="http://schemas.openxmlformats.org/drawingml/2006/main">
              <a:ext uri="{FF2B5EF4-FFF2-40B4-BE49-F238E27FC236}">
                <a16:creationId xmlns:a16="http://schemas.microsoft.com/office/drawing/2014/main" id="{2012685A-440D-471A-88A3-3BDB777921D5}"/>
              </a:ext>
            </a:extLst>
          </p:cNvPr>
          <p:cNvSpPr>
            <a:spLocks xmlns:a="http://schemas.openxmlformats.org/drawingml/2006/main" noGrp="1"/>
          </p:cNvSpPr>
          <p:nvPr/>
        </p:nvSpPr>
        <p:spPr>
          <a:xfrm xmlns:a="http://schemas.openxmlformats.org/drawingml/2006/main">
            <a:off x="685800" y="1685925"/>
            <a:ext cx="10525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725" b="0">
                <a:solidFill>
                  <a:srgbClr val="19384A"/>
                </a:solidFill>
                <a:latin typeface="Arial"/>
                <a:ea typeface="Arial"/>
                <a:cs typeface="Arial"/>
              </a:defRPr>
            </a:pPr>
            <a:r>
              <a:rPr sz="1725" b="0">
                <a:solidFill>
                  <a:srgbClr val="19384A"/>
                </a:solidFill>
                <a:latin typeface="Arial"/>
                <a:ea typeface="Arial"/>
                <a:cs typeface="Arial"/>
              </a:rPr>
              <a:t>Each chromosome is scored using energy and comfort information computed from that candidate.</a:t>
            </a:r>
          </a:p>
        </p:txBody>
      </p:sp>
      <p:sp>
        <p:nvSpPr>
          <p:cNvPr id="6" name="">
            <a:extLst xmlns:a="http://schemas.openxmlformats.org/drawingml/2006/main">
              <a:ext uri="{FF2B5EF4-FFF2-40B4-BE49-F238E27FC236}">
                <a16:creationId xmlns:a16="http://schemas.microsoft.com/office/drawing/2014/main" id="{67B30CC8-B914-4BAB-8485-121F5D106F49}"/>
              </a:ext>
            </a:extLst>
          </p:cNvPr>
          <p:cNvSpPr>
            <a:spLocks xmlns:a="http://schemas.openxmlformats.org/drawingml/2006/main" noGrp="1"/>
          </p:cNvSpPr>
          <p:nvPr/>
        </p:nvSpPr>
        <p:spPr>
          <a:xfrm xmlns:a="http://schemas.openxmlformats.org/drawingml/2006/main">
            <a:off x="685800" y="2819400"/>
            <a:ext cx="2000250" cy="12954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C3F8C03B-9B8E-4BA2-B6B0-64B6A92D587A}"/>
              </a:ext>
            </a:extLst>
          </p:cNvPr>
          <p:cNvSpPr>
            <a:spLocks xmlns:a="http://schemas.openxmlformats.org/drawingml/2006/main" noGrp="1"/>
          </p:cNvSpPr>
          <p:nvPr/>
        </p:nvSpPr>
        <p:spPr>
          <a:xfrm xmlns:a="http://schemas.openxmlformats.org/drawingml/2006/main">
            <a:off x="685800" y="2819400"/>
            <a:ext cx="38100" cy="1295400"/>
          </a:xfrm>
          <a:prstGeom xmlns:a="http://schemas.openxmlformats.org/drawingml/2006/main" prst="rect">
            <a:avLst/>
          </a:prstGeom>
          <a:solidFill xmlns:a="http://schemas.openxmlformats.org/drawingml/2006/main">
            <a:srgbClr val="137C78"/>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87EEEF6A-E273-48A8-B040-C569C23C2934}"/>
              </a:ext>
            </a:extLst>
          </p:cNvPr>
          <p:cNvSpPr>
            <a:spLocks xmlns:a="http://schemas.openxmlformats.org/drawingml/2006/main" noGrp="1"/>
          </p:cNvSpPr>
          <p:nvPr/>
        </p:nvSpPr>
        <p:spPr>
          <a:xfrm xmlns:a="http://schemas.openxmlformats.org/drawingml/2006/main">
            <a:off x="857250" y="2971800"/>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474"/>
          </a:bodyPr>
          <a:lstStyle xmlns:a="http://schemas.openxmlformats.org/drawingml/2006/main"/>
          <a:p xmlns:a="http://schemas.openxmlformats.org/drawingml/2006/main">
            <a:pPr>
              <a:defRPr sz="1425" b="1">
                <a:solidFill>
                  <a:srgbClr val="102A3B"/>
                </a:solidFill>
                <a:latin typeface="Arial"/>
                <a:ea typeface="Arial"/>
                <a:cs typeface="Arial"/>
              </a:defRPr>
            </a:pPr>
            <a:r>
              <a:rPr sz="1425" b="1">
                <a:solidFill>
                  <a:srgbClr val="102A3B"/>
                </a:solidFill>
                <a:latin typeface="Arial"/>
                <a:ea typeface="Arial"/>
                <a:cs typeface="Arial"/>
              </a:rPr>
              <a:t>Scenario inputs</a:t>
            </a:r>
          </a:p>
        </p:txBody>
      </p:sp>
      <p:sp>
        <p:nvSpPr>
          <p:cNvPr id="9" name="">
            <a:extLst xmlns:a="http://schemas.openxmlformats.org/drawingml/2006/main">
              <a:ext uri="{FF2B5EF4-FFF2-40B4-BE49-F238E27FC236}">
                <a16:creationId xmlns:a16="http://schemas.microsoft.com/office/drawing/2014/main" id="{08C26F79-9F1A-4382-ACCC-D72E03591BC0}"/>
              </a:ext>
            </a:extLst>
          </p:cNvPr>
          <p:cNvSpPr>
            <a:spLocks xmlns:a="http://schemas.openxmlformats.org/drawingml/2006/main" noGrp="1"/>
          </p:cNvSpPr>
          <p:nvPr/>
        </p:nvSpPr>
        <p:spPr>
          <a:xfrm xmlns:a="http://schemas.openxmlformats.org/drawingml/2006/main">
            <a:off x="857250" y="3343275"/>
            <a:ext cx="1714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0">
                <a:solidFill>
                  <a:srgbClr val="607785"/>
                </a:solidFill>
                <a:latin typeface="Arial"/>
                <a:ea typeface="Arial"/>
                <a:cs typeface="Arial"/>
              </a:defRPr>
            </a:pPr>
            <a:r>
              <a:rPr sz="1200" b="0">
                <a:solidFill>
                  <a:srgbClr val="607785"/>
                </a:solidFill>
                <a:latin typeface="Arial"/>
                <a:ea typeface="Arial"/>
                <a:cs typeface="Arial"/>
              </a:rPr>
              <a:t>12 zones</a:t>
            </a:r>
          </a:p>
          <a:p xmlns:a="http://schemas.openxmlformats.org/drawingml/2006/main">
            <a:pPr>
              <a:defRPr sz="1200" b="0">
                <a:solidFill>
                  <a:srgbClr val="607785"/>
                </a:solidFill>
                <a:latin typeface="Arial"/>
                <a:ea typeface="Arial"/>
                <a:cs typeface="Arial"/>
              </a:defRPr>
            </a:pPr>
            <a:r>
              <a:rPr sz="1200" b="0">
                <a:solidFill>
                  <a:srgbClr val="607785"/>
                </a:solidFill>
                <a:latin typeface="Arial"/>
                <a:ea typeface="Arial"/>
                <a:cs typeface="Arial"/>
              </a:rPr>
              <a:t>occupancy · weather</a:t>
            </a:r>
          </a:p>
          <a:p xmlns:a="http://schemas.openxmlformats.org/drawingml/2006/main">
            <a:pPr>
              <a:defRPr sz="1200" b="0">
                <a:solidFill>
                  <a:srgbClr val="607785"/>
                </a:solidFill>
                <a:latin typeface="Arial"/>
                <a:ea typeface="Arial"/>
                <a:cs typeface="Arial"/>
              </a:defRPr>
            </a:pPr>
            <a:r>
              <a:rPr sz="1200" b="0">
                <a:solidFill>
                  <a:srgbClr val="607785"/>
                </a:solidFill>
                <a:latin typeface="Arial"/>
                <a:ea typeface="Arial"/>
                <a:cs typeface="Arial"/>
              </a:rPr>
              <a:t>room state</a:t>
            </a:r>
          </a:p>
        </p:txBody>
      </p:sp>
      <p:sp>
        <p:nvSpPr>
          <p:cNvPr id="10" name="">
            <a:extLst xmlns:a="http://schemas.openxmlformats.org/drawingml/2006/main">
              <a:ext uri="{FF2B5EF4-FFF2-40B4-BE49-F238E27FC236}">
                <a16:creationId xmlns:a16="http://schemas.microsoft.com/office/drawing/2014/main" id="{7ADFA207-2EBC-49EE-8B91-4A1603E1618E}"/>
              </a:ext>
            </a:extLst>
          </p:cNvPr>
          <p:cNvSpPr>
            <a:spLocks xmlns:a="http://schemas.openxmlformats.org/drawingml/2006/main" noGrp="1"/>
          </p:cNvSpPr>
          <p:nvPr/>
        </p:nvSpPr>
        <p:spPr>
          <a:xfrm xmlns:a="http://schemas.openxmlformats.org/drawingml/2006/main">
            <a:off x="3371850" y="2819400"/>
            <a:ext cx="2190750" cy="12954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33A800F2-E630-4567-B01A-6D652E1390C8}"/>
              </a:ext>
            </a:extLst>
          </p:cNvPr>
          <p:cNvSpPr>
            <a:spLocks xmlns:a="http://schemas.openxmlformats.org/drawingml/2006/main" noGrp="1"/>
          </p:cNvSpPr>
          <p:nvPr/>
        </p:nvSpPr>
        <p:spPr>
          <a:xfrm xmlns:a="http://schemas.openxmlformats.org/drawingml/2006/main">
            <a:off x="3371850" y="2819400"/>
            <a:ext cx="38100" cy="1295400"/>
          </a:xfrm>
          <a:prstGeom xmlns:a="http://schemas.openxmlformats.org/drawingml/2006/main" prst="rect">
            <a:avLst/>
          </a:prstGeom>
          <a:solidFill xmlns:a="http://schemas.openxmlformats.org/drawingml/2006/main">
            <a:srgbClr val="137C7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DD231D62-F7CB-4C8C-8173-55E4A25AF309}"/>
              </a:ext>
            </a:extLst>
          </p:cNvPr>
          <p:cNvSpPr>
            <a:spLocks xmlns:a="http://schemas.openxmlformats.org/drawingml/2006/main" noGrp="1"/>
          </p:cNvSpPr>
          <p:nvPr/>
        </p:nvSpPr>
        <p:spPr>
          <a:xfrm xmlns:a="http://schemas.openxmlformats.org/drawingml/2006/main">
            <a:off x="3543300" y="2971800"/>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474"/>
          </a:bodyPr>
          <a:lstStyle xmlns:a="http://schemas.openxmlformats.org/drawingml/2006/main"/>
          <a:p xmlns:a="http://schemas.openxmlformats.org/drawingml/2006/main">
            <a:pPr>
              <a:defRPr sz="1425" b="1">
                <a:solidFill>
                  <a:srgbClr val="102A3B"/>
                </a:solidFill>
                <a:latin typeface="Arial"/>
                <a:ea typeface="Arial"/>
                <a:cs typeface="Arial"/>
              </a:defRPr>
            </a:pPr>
            <a:r>
              <a:rPr sz="1425" b="1">
                <a:solidFill>
                  <a:srgbClr val="102A3B"/>
                </a:solidFill>
                <a:latin typeface="Arial"/>
                <a:ea typeface="Arial"/>
                <a:cs typeface="Arial"/>
              </a:rPr>
              <a:t>Mamdani-style FIS</a:t>
            </a:r>
          </a:p>
        </p:txBody>
      </p:sp>
      <p:sp>
        <p:nvSpPr>
          <p:cNvPr id="13" name="">
            <a:extLst xmlns:a="http://schemas.openxmlformats.org/drawingml/2006/main">
              <a:ext uri="{FF2B5EF4-FFF2-40B4-BE49-F238E27FC236}">
                <a16:creationId xmlns:a16="http://schemas.microsoft.com/office/drawing/2014/main" id="{A29F9C92-3105-4606-AC7D-7480BC6D144C}"/>
              </a:ext>
            </a:extLst>
          </p:cNvPr>
          <p:cNvSpPr>
            <a:spLocks xmlns:a="http://schemas.openxmlformats.org/drawingml/2006/main" noGrp="1"/>
          </p:cNvSpPr>
          <p:nvPr/>
        </p:nvSpPr>
        <p:spPr>
          <a:xfrm xmlns:a="http://schemas.openxmlformats.org/drawingml/2006/main">
            <a:off x="3543300" y="3343275"/>
            <a:ext cx="1905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0">
                <a:solidFill>
                  <a:srgbClr val="607785"/>
                </a:solidFill>
                <a:latin typeface="Arial"/>
                <a:ea typeface="Arial"/>
                <a:cs typeface="Arial"/>
              </a:defRPr>
            </a:pPr>
            <a:r>
              <a:rPr sz="1200" b="0">
                <a:solidFill>
                  <a:srgbClr val="607785"/>
                </a:solidFill>
                <a:latin typeface="Arial"/>
                <a:ea typeface="Arial"/>
                <a:cs typeface="Arial"/>
              </a:rPr>
              <a:t>27 max-min rules</a:t>
            </a:r>
          </a:p>
          <a:p xmlns:a="http://schemas.openxmlformats.org/drawingml/2006/main">
            <a:pPr>
              <a:defRPr sz="1200" b="0">
                <a:solidFill>
                  <a:srgbClr val="607785"/>
                </a:solidFill>
                <a:latin typeface="Arial"/>
                <a:ea typeface="Arial"/>
                <a:cs typeface="Arial"/>
              </a:defRPr>
            </a:pPr>
            <a:r>
              <a:rPr sz="1200" b="0">
                <a:solidFill>
                  <a:srgbClr val="607785"/>
                </a:solidFill>
                <a:latin typeface="Arial"/>
                <a:ea typeface="Arial"/>
                <a:cs typeface="Arial"/>
              </a:rPr>
              <a:t>inputs include candidate</a:t>
            </a:r>
          </a:p>
          <a:p xmlns:a="http://schemas.openxmlformats.org/drawingml/2006/main">
            <a:pPr>
              <a:defRPr sz="1200" b="0">
                <a:solidFill>
                  <a:srgbClr val="607785"/>
                </a:solidFill>
                <a:latin typeface="Arial"/>
                <a:ea typeface="Arial"/>
                <a:cs typeface="Arial"/>
              </a:defRPr>
            </a:pPr>
            <a:r>
              <a:rPr sz="1200" b="0">
                <a:solidFill>
                  <a:srgbClr val="607785"/>
                </a:solidFill>
                <a:latin typeface="Arial"/>
                <a:ea typeface="Arial"/>
                <a:cs typeface="Arial"/>
              </a:rPr>
              <a:t>CO₂ and setpoint offset</a:t>
            </a:r>
          </a:p>
        </p:txBody>
      </p:sp>
      <p:sp>
        <p:nvSpPr>
          <p:cNvPr id="14" name="">
            <a:extLst xmlns:a="http://schemas.openxmlformats.org/drawingml/2006/main">
              <a:ext uri="{FF2B5EF4-FFF2-40B4-BE49-F238E27FC236}">
                <a16:creationId xmlns:a16="http://schemas.microsoft.com/office/drawing/2014/main" id="{92B42E5D-43DF-4EBE-9E53-04F052656834}"/>
              </a:ext>
            </a:extLst>
          </p:cNvPr>
          <p:cNvSpPr>
            <a:spLocks xmlns:a="http://schemas.openxmlformats.org/drawingml/2006/main" noGrp="1"/>
          </p:cNvSpPr>
          <p:nvPr/>
        </p:nvSpPr>
        <p:spPr>
          <a:xfrm xmlns:a="http://schemas.openxmlformats.org/drawingml/2006/main">
            <a:off x="6248400" y="2819400"/>
            <a:ext cx="2190750" cy="12954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455E3DAB-D406-4869-9ED3-9FA0405152EC}"/>
              </a:ext>
            </a:extLst>
          </p:cNvPr>
          <p:cNvSpPr>
            <a:spLocks xmlns:a="http://schemas.openxmlformats.org/drawingml/2006/main" noGrp="1"/>
          </p:cNvSpPr>
          <p:nvPr/>
        </p:nvSpPr>
        <p:spPr>
          <a:xfrm xmlns:a="http://schemas.openxmlformats.org/drawingml/2006/main">
            <a:off x="6248400" y="2819400"/>
            <a:ext cx="38100" cy="1295400"/>
          </a:xfrm>
          <a:prstGeom xmlns:a="http://schemas.openxmlformats.org/drawingml/2006/main" prst="rect">
            <a:avLst/>
          </a:prstGeom>
          <a:solidFill xmlns:a="http://schemas.openxmlformats.org/drawingml/2006/main">
            <a:srgbClr val="137C78"/>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0F52BAD5-831F-4D86-9049-207E126835C1}"/>
              </a:ext>
            </a:extLst>
          </p:cNvPr>
          <p:cNvSpPr>
            <a:spLocks xmlns:a="http://schemas.openxmlformats.org/drawingml/2006/main" noGrp="1"/>
          </p:cNvSpPr>
          <p:nvPr/>
        </p:nvSpPr>
        <p:spPr>
          <a:xfrm xmlns:a="http://schemas.openxmlformats.org/drawingml/2006/main">
            <a:off x="6419850" y="2971800"/>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474"/>
          </a:bodyPr>
          <a:lstStyle xmlns:a="http://schemas.openxmlformats.org/drawingml/2006/main"/>
          <a:p xmlns:a="http://schemas.openxmlformats.org/drawingml/2006/main">
            <a:pPr>
              <a:defRPr sz="1425" b="1">
                <a:solidFill>
                  <a:srgbClr val="102A3B"/>
                </a:solidFill>
                <a:latin typeface="Arial"/>
                <a:ea typeface="Arial"/>
                <a:cs typeface="Arial"/>
              </a:defRPr>
            </a:pPr>
            <a:r>
              <a:rPr sz="1425" b="1">
                <a:solidFill>
                  <a:srgbClr val="102A3B"/>
                </a:solidFill>
                <a:latin typeface="Arial"/>
                <a:ea typeface="Arial"/>
                <a:cs typeface="Arial"/>
              </a:rPr>
              <a:t>Fitness evaluation</a:t>
            </a:r>
          </a:p>
        </p:txBody>
      </p:sp>
      <p:sp>
        <p:nvSpPr>
          <p:cNvPr id="17" name="">
            <a:extLst xmlns:a="http://schemas.openxmlformats.org/drawingml/2006/main">
              <a:ext uri="{FF2B5EF4-FFF2-40B4-BE49-F238E27FC236}">
                <a16:creationId xmlns:a16="http://schemas.microsoft.com/office/drawing/2014/main" id="{4923CC32-DF44-4F02-9551-EF8ABDDE344B}"/>
              </a:ext>
            </a:extLst>
          </p:cNvPr>
          <p:cNvSpPr>
            <a:spLocks xmlns:a="http://schemas.openxmlformats.org/drawingml/2006/main" noGrp="1"/>
          </p:cNvSpPr>
          <p:nvPr/>
        </p:nvSpPr>
        <p:spPr>
          <a:xfrm xmlns:a="http://schemas.openxmlformats.org/drawingml/2006/main">
            <a:off x="6419850" y="3343275"/>
            <a:ext cx="1905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828"/>
          </a:bodyPr>
          <a:lstStyle xmlns:a="http://schemas.openxmlformats.org/drawingml/2006/main"/>
          <a:p xmlns:a="http://schemas.openxmlformats.org/drawingml/2006/main">
            <a:pPr>
              <a:defRPr sz="1200" b="0">
                <a:solidFill>
                  <a:srgbClr val="607785"/>
                </a:solidFill>
                <a:latin typeface="Arial"/>
                <a:ea typeface="Arial"/>
                <a:cs typeface="Arial"/>
              </a:defRPr>
            </a:pPr>
            <a:r>
              <a:rPr sz="1200" b="0">
                <a:solidFill>
                  <a:srgbClr val="607785"/>
                </a:solidFill>
                <a:latin typeface="Arial"/>
                <a:ea typeface="Arial"/>
                <a:cs typeface="Arial"/>
              </a:rPr>
              <a:t>energy proxy + CRI</a:t>
            </a:r>
          </a:p>
          <a:p xmlns:a="http://schemas.openxmlformats.org/drawingml/2006/main">
            <a:pPr>
              <a:defRPr sz="1200" b="0">
                <a:solidFill>
                  <a:srgbClr val="607785"/>
                </a:solidFill>
                <a:latin typeface="Arial"/>
                <a:ea typeface="Arial"/>
                <a:cs typeface="Arial"/>
              </a:defRPr>
            </a:pPr>
            <a:r>
              <a:rPr sz="1200" b="0">
                <a:solidFill>
                  <a:srgbClr val="607785"/>
                </a:solidFill>
                <a:latin typeface="Arial"/>
                <a:ea typeface="Arial"/>
                <a:cs typeface="Arial"/>
              </a:rPr>
              <a:t>PMV comfort penalty</a:t>
            </a:r>
          </a:p>
          <a:p xmlns:a="http://schemas.openxmlformats.org/drawingml/2006/main">
            <a:pPr>
              <a:defRPr sz="1200" b="0">
                <a:solidFill>
                  <a:srgbClr val="607785"/>
                </a:solidFill>
                <a:latin typeface="Arial"/>
                <a:ea typeface="Arial"/>
                <a:cs typeface="Arial"/>
              </a:defRPr>
            </a:pPr>
            <a:r>
              <a:rPr sz="1200" b="0">
                <a:solidFill>
                  <a:srgbClr val="607785"/>
                </a:solidFill>
                <a:latin typeface="Arial"/>
                <a:ea typeface="Arial"/>
                <a:cs typeface="Arial"/>
              </a:rPr>
              <a:t>penalty grows by generation</a:t>
            </a:r>
          </a:p>
        </p:txBody>
      </p:sp>
      <p:sp>
        <p:nvSpPr>
          <p:cNvPr id="18" name="">
            <a:extLst xmlns:a="http://schemas.openxmlformats.org/drawingml/2006/main">
              <a:ext uri="{FF2B5EF4-FFF2-40B4-BE49-F238E27FC236}">
                <a16:creationId xmlns:a16="http://schemas.microsoft.com/office/drawing/2014/main" id="{FEA05975-29EB-4569-A214-E5F1BEBB0F41}"/>
              </a:ext>
            </a:extLst>
          </p:cNvPr>
          <p:cNvSpPr>
            <a:spLocks xmlns:a="http://schemas.openxmlformats.org/drawingml/2006/main" noGrp="1"/>
          </p:cNvSpPr>
          <p:nvPr/>
        </p:nvSpPr>
        <p:spPr>
          <a:xfrm xmlns:a="http://schemas.openxmlformats.org/drawingml/2006/main">
            <a:off x="9124950" y="2819400"/>
            <a:ext cx="2381250" cy="12954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7306C995-97C9-49F5-BBB6-D089A64FC03D}"/>
              </a:ext>
            </a:extLst>
          </p:cNvPr>
          <p:cNvSpPr>
            <a:spLocks xmlns:a="http://schemas.openxmlformats.org/drawingml/2006/main" noGrp="1"/>
          </p:cNvSpPr>
          <p:nvPr/>
        </p:nvSpPr>
        <p:spPr>
          <a:xfrm xmlns:a="http://schemas.openxmlformats.org/drawingml/2006/main">
            <a:off x="9124950" y="2819400"/>
            <a:ext cx="38100" cy="1295400"/>
          </a:xfrm>
          <a:prstGeom xmlns:a="http://schemas.openxmlformats.org/drawingml/2006/main" prst="rect">
            <a:avLst/>
          </a:prstGeom>
          <a:solidFill xmlns:a="http://schemas.openxmlformats.org/drawingml/2006/main">
            <a:srgbClr val="137C7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71EA4ED5-3B75-4CBB-8C55-8DC3A74E4124}"/>
              </a:ext>
            </a:extLst>
          </p:cNvPr>
          <p:cNvSpPr>
            <a:spLocks xmlns:a="http://schemas.openxmlformats.org/drawingml/2006/main" noGrp="1"/>
          </p:cNvSpPr>
          <p:nvPr/>
        </p:nvSpPr>
        <p:spPr>
          <a:xfrm xmlns:a="http://schemas.openxmlformats.org/drawingml/2006/main">
            <a:off x="9296400" y="2971800"/>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474"/>
          </a:bodyPr>
          <a:lstStyle xmlns:a="http://schemas.openxmlformats.org/drawingml/2006/main"/>
          <a:p xmlns:a="http://schemas.openxmlformats.org/drawingml/2006/main">
            <a:pPr>
              <a:defRPr sz="1425" b="1">
                <a:solidFill>
                  <a:srgbClr val="102A3B"/>
                </a:solidFill>
                <a:latin typeface="Arial"/>
                <a:ea typeface="Arial"/>
                <a:cs typeface="Arial"/>
              </a:defRPr>
            </a:pPr>
            <a:r>
              <a:rPr sz="1425" b="1">
                <a:solidFill>
                  <a:srgbClr val="102A3B"/>
                </a:solidFill>
                <a:latin typeface="Arial"/>
                <a:ea typeface="Arial"/>
                <a:cs typeface="Arial"/>
              </a:rPr>
              <a:t>Real-coded GA</a:t>
            </a:r>
          </a:p>
        </p:txBody>
      </p:sp>
      <p:sp>
        <p:nvSpPr>
          <p:cNvPr id="21" name="">
            <a:extLst xmlns:a="http://schemas.openxmlformats.org/drawingml/2006/main">
              <a:ext uri="{FF2B5EF4-FFF2-40B4-BE49-F238E27FC236}">
                <a16:creationId xmlns:a16="http://schemas.microsoft.com/office/drawing/2014/main" id="{171B53D7-072C-461B-A78F-F68B3FFED036}"/>
              </a:ext>
            </a:extLst>
          </p:cNvPr>
          <p:cNvSpPr>
            <a:spLocks xmlns:a="http://schemas.openxmlformats.org/drawingml/2006/main" noGrp="1"/>
          </p:cNvSpPr>
          <p:nvPr/>
        </p:nvSpPr>
        <p:spPr>
          <a:xfrm xmlns:a="http://schemas.openxmlformats.org/drawingml/2006/main">
            <a:off x="9296400" y="3343275"/>
            <a:ext cx="2095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0">
                <a:solidFill>
                  <a:srgbClr val="607785"/>
                </a:solidFill>
                <a:latin typeface="Arial"/>
                <a:ea typeface="Arial"/>
                <a:cs typeface="Arial"/>
              </a:defRPr>
            </a:pPr>
            <a:r>
              <a:rPr sz="1200" b="0">
                <a:solidFill>
                  <a:srgbClr val="607785"/>
                </a:solidFill>
                <a:latin typeface="Arial"/>
                <a:ea typeface="Arial"/>
                <a:cs typeface="Arial"/>
              </a:rPr>
              <a:t>selection · crossover</a:t>
            </a:r>
          </a:p>
          <a:p xmlns:a="http://schemas.openxmlformats.org/drawingml/2006/main">
            <a:pPr>
              <a:defRPr sz="1200" b="0">
                <a:solidFill>
                  <a:srgbClr val="607785"/>
                </a:solidFill>
                <a:latin typeface="Arial"/>
                <a:ea typeface="Arial"/>
                <a:cs typeface="Arial"/>
              </a:defRPr>
            </a:pPr>
            <a:r>
              <a:rPr sz="1200" b="0">
                <a:solidFill>
                  <a:srgbClr val="607785"/>
                </a:solidFill>
                <a:latin typeface="Arial"/>
                <a:ea typeface="Arial"/>
                <a:cs typeface="Arial"/>
              </a:rPr>
              <a:t>mutation · elitism</a:t>
            </a:r>
          </a:p>
          <a:p xmlns:a="http://schemas.openxmlformats.org/drawingml/2006/main">
            <a:pPr>
              <a:defRPr sz="1200" b="0">
                <a:solidFill>
                  <a:srgbClr val="607785"/>
                </a:solidFill>
                <a:latin typeface="Arial"/>
                <a:ea typeface="Arial"/>
                <a:cs typeface="Arial"/>
              </a:defRPr>
            </a:pPr>
            <a:r>
              <a:rPr sz="1200" b="0">
                <a:solidFill>
                  <a:srgbClr val="607785"/>
                </a:solidFill>
                <a:latin typeface="Arial"/>
                <a:ea typeface="Arial"/>
                <a:cs typeface="Arial"/>
              </a:rPr>
              <a:t>36 decision values</a:t>
            </a:r>
          </a:p>
        </p:txBody>
      </p:sp>
      <p:sp>
        <p:nvSpPr>
          <p:cNvPr id="22" name="">
            <a:extLst xmlns:a="http://schemas.openxmlformats.org/drawingml/2006/main">
              <a:ext uri="{FF2B5EF4-FFF2-40B4-BE49-F238E27FC236}">
                <a16:creationId xmlns:a16="http://schemas.microsoft.com/office/drawing/2014/main" id="{EFF9A082-0618-4560-8852-86086D4D2672}"/>
              </a:ext>
            </a:extLst>
          </p:cNvPr>
          <p:cNvSpPr>
            <a:spLocks xmlns:a="http://schemas.openxmlformats.org/drawingml/2006/main" noGrp="1"/>
          </p:cNvSpPr>
          <p:nvPr/>
        </p:nvSpPr>
        <p:spPr>
          <a:xfrm xmlns:a="http://schemas.openxmlformats.org/drawingml/2006/main">
            <a:off x="2924175" y="3267075"/>
            <a:ext cx="304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49021"/>
          </a:bodyPr>
          <a:lstStyle xmlns:a="http://schemas.openxmlformats.org/drawingml/2006/main"/>
          <a:p xmlns:a="http://schemas.openxmlformats.org/drawingml/2006/main">
            <a:pPr>
              <a:defRPr sz="1950" b="1">
                <a:solidFill>
                  <a:srgbClr val="137C78"/>
                </a:solidFill>
                <a:latin typeface="Arial"/>
                <a:ea typeface="Arial"/>
                <a:cs typeface="Arial"/>
              </a:defRPr>
            </a:pPr>
            <a:r>
              <a:rPr sz="1950" b="1">
                <a:solidFill>
                  <a:srgbClr val="137C78"/>
                </a:solidFill>
                <a:latin typeface="Arial"/>
                <a:ea typeface="Arial"/>
                <a:cs typeface="Arial"/>
              </a:rPr>
              <a:t>→</a:t>
            </a:r>
          </a:p>
        </p:txBody>
      </p:sp>
      <p:sp>
        <p:nvSpPr>
          <p:cNvPr id="23" name="">
            <a:extLst xmlns:a="http://schemas.openxmlformats.org/drawingml/2006/main">
              <a:ext uri="{FF2B5EF4-FFF2-40B4-BE49-F238E27FC236}">
                <a16:creationId xmlns:a16="http://schemas.microsoft.com/office/drawing/2014/main" id="{8897E121-608B-4E38-8FEC-A00CDD121158}"/>
              </a:ext>
            </a:extLst>
          </p:cNvPr>
          <p:cNvSpPr>
            <a:spLocks xmlns:a="http://schemas.openxmlformats.org/drawingml/2006/main" noGrp="1"/>
          </p:cNvSpPr>
          <p:nvPr/>
        </p:nvSpPr>
        <p:spPr>
          <a:xfrm xmlns:a="http://schemas.openxmlformats.org/drawingml/2006/main">
            <a:off x="5781675" y="3267075"/>
            <a:ext cx="304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49021"/>
          </a:bodyPr>
          <a:lstStyle xmlns:a="http://schemas.openxmlformats.org/drawingml/2006/main"/>
          <a:p xmlns:a="http://schemas.openxmlformats.org/drawingml/2006/main">
            <a:pPr>
              <a:defRPr sz="1950" b="1">
                <a:solidFill>
                  <a:srgbClr val="137C78"/>
                </a:solidFill>
                <a:latin typeface="Arial"/>
                <a:ea typeface="Arial"/>
                <a:cs typeface="Arial"/>
              </a:defRPr>
            </a:pPr>
            <a:r>
              <a:rPr sz="1950" b="1">
                <a:solidFill>
                  <a:srgbClr val="137C78"/>
                </a:solidFill>
                <a:latin typeface="Arial"/>
                <a:ea typeface="Arial"/>
                <a:cs typeface="Arial"/>
              </a:rPr>
              <a:t>→</a:t>
            </a:r>
          </a:p>
        </p:txBody>
      </p:sp>
      <p:sp>
        <p:nvSpPr>
          <p:cNvPr id="24" name="">
            <a:extLst xmlns:a="http://schemas.openxmlformats.org/drawingml/2006/main">
              <a:ext uri="{FF2B5EF4-FFF2-40B4-BE49-F238E27FC236}">
                <a16:creationId xmlns:a16="http://schemas.microsoft.com/office/drawing/2014/main" id="{BDD5EBEF-2557-4C3F-BFD0-75AC3990039A}"/>
              </a:ext>
            </a:extLst>
          </p:cNvPr>
          <p:cNvSpPr>
            <a:spLocks xmlns:a="http://schemas.openxmlformats.org/drawingml/2006/main" noGrp="1"/>
          </p:cNvSpPr>
          <p:nvPr/>
        </p:nvSpPr>
        <p:spPr>
          <a:xfrm xmlns:a="http://schemas.openxmlformats.org/drawingml/2006/main">
            <a:off x="8658225" y="3267075"/>
            <a:ext cx="304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49021"/>
          </a:bodyPr>
          <a:lstStyle xmlns:a="http://schemas.openxmlformats.org/drawingml/2006/main"/>
          <a:p xmlns:a="http://schemas.openxmlformats.org/drawingml/2006/main">
            <a:pPr>
              <a:defRPr sz="1950" b="1">
                <a:solidFill>
                  <a:srgbClr val="137C78"/>
                </a:solidFill>
                <a:latin typeface="Arial"/>
                <a:ea typeface="Arial"/>
                <a:cs typeface="Arial"/>
              </a:defRPr>
            </a:pPr>
            <a:r>
              <a:rPr sz="1950" b="1">
                <a:solidFill>
                  <a:srgbClr val="137C78"/>
                </a:solidFill>
                <a:latin typeface="Arial"/>
                <a:ea typeface="Arial"/>
                <a:cs typeface="Arial"/>
              </a:rPr>
              <a:t>→</a:t>
            </a:r>
          </a:p>
        </p:txBody>
      </p:sp>
      <p:sp>
        <p:nvSpPr>
          <p:cNvPr id="25" name="">
            <a:extLst xmlns:a="http://schemas.openxmlformats.org/drawingml/2006/main">
              <a:ext uri="{FF2B5EF4-FFF2-40B4-BE49-F238E27FC236}">
                <a16:creationId xmlns:a16="http://schemas.microsoft.com/office/drawing/2014/main" id="{1A6CB947-1B74-40B0-9614-0D9099608DCC}"/>
              </a:ext>
            </a:extLst>
          </p:cNvPr>
          <p:cNvSpPr>
            <a:spLocks xmlns:a="http://schemas.openxmlformats.org/drawingml/2006/main" noGrp="1"/>
          </p:cNvSpPr>
          <p:nvPr/>
        </p:nvSpPr>
        <p:spPr>
          <a:xfrm xmlns:a="http://schemas.openxmlformats.org/drawingml/2006/main">
            <a:off x="685800" y="4667250"/>
            <a:ext cx="2762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625"/>
          </a:bodyPr>
          <a:lstStyle xmlns:a="http://schemas.openxmlformats.org/drawingml/2006/main"/>
          <a:p xmlns:a="http://schemas.openxmlformats.org/drawingml/2006/main">
            <a:pPr>
              <a:defRPr sz="1200" b="1">
                <a:solidFill>
                  <a:srgbClr val="137C78"/>
                </a:solidFill>
                <a:latin typeface="Arial"/>
                <a:ea typeface="Arial"/>
                <a:cs typeface="Arial"/>
              </a:defRPr>
            </a:pPr>
            <a:r>
              <a:rPr sz="1200" b="1">
                <a:solidFill>
                  <a:srgbClr val="137C78"/>
                </a:solidFill>
                <a:latin typeface="Arial"/>
                <a:ea typeface="Arial"/>
                <a:cs typeface="Arial"/>
              </a:rPr>
              <a:t>Selected schedule preview</a:t>
            </a:r>
          </a:p>
        </p:txBody>
      </p:sp>
      <p:sp>
        <p:nvSpPr>
          <p:cNvPr id="26" name="">
            <a:extLst xmlns:a="http://schemas.openxmlformats.org/drawingml/2006/main">
              <a:ext uri="{FF2B5EF4-FFF2-40B4-BE49-F238E27FC236}">
                <a16:creationId xmlns:a16="http://schemas.microsoft.com/office/drawing/2014/main" id="{24158B9C-3086-4D14-B1E3-E4660F20EB15}"/>
              </a:ext>
            </a:extLst>
          </p:cNvPr>
          <p:cNvSpPr>
            <a:spLocks xmlns:a="http://schemas.openxmlformats.org/drawingml/2006/main" noGrp="1"/>
          </p:cNvSpPr>
          <p:nvPr/>
        </p:nvSpPr>
        <p:spPr>
          <a:xfrm xmlns:a="http://schemas.openxmlformats.org/drawingml/2006/main">
            <a:off x="685800" y="4991100"/>
            <a:ext cx="10382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650" b="0">
                <a:solidFill>
                  <a:srgbClr val="19384A"/>
                </a:solidFill>
                <a:latin typeface="Arial"/>
                <a:ea typeface="Arial"/>
                <a:cs typeface="Arial"/>
              </a:defRPr>
            </a:pPr>
            <a:r>
              <a:rPr sz="1650" b="0">
                <a:solidFill>
                  <a:srgbClr val="19384A"/>
                </a:solidFill>
                <a:latin typeface="Arial"/>
                <a:ea typeface="Arial"/>
                <a:cs typeface="Arial"/>
              </a:rPr>
              <a:t>The browser dashboard displays the optimized settings and convergence trace; no control signal is sent to equipment.</a:t>
            </a:r>
          </a:p>
        </p:txBody>
      </p:sp>
    </p:spTree>
    <p:extLst>
      <p:ext uri="{BB962C8B-B14F-4D97-AF65-F5344CB8AC3E}">
        <p14:creationId xmlns:p14="http://schemas.microsoft.com/office/powerpoint/2010/main" val="1479857035"/>
      </p:ext>
    </p:extLst>
  </p:cSld>
</p:sld>
</file>

<file path=ppt/slides/slide4.xml><?xml version="1.0" encoding="utf-8"?>
<p:sld xmlns:p="http://schemas.openxmlformats.org/presentationml/2006/main">
  <p:cSld>
    <p:bg>
      <p:bgPr>
        <a:solidFill xmlns:a="http://schemas.openxmlformats.org/drawingml/2006/main">
          <a:srgbClr val="F6F8F7"/>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C315EB39-F9B3-4F86-9ABB-907A02ADAFE5}"/>
              </a:ext>
            </a:extLst>
          </p:cNvPr>
          <p:cNvSpPr>
            <a:spLocks xmlns:a="http://schemas.openxmlformats.org/drawingml/2006/main" noGrp="1"/>
          </p:cNvSpPr>
          <p:nvPr/>
        </p:nvSpPr>
        <p:spPr>
          <a:xfrm xmlns:a="http://schemas.openxmlformats.org/drawingml/2006/main">
            <a:off x="685800" y="333375"/>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667"/>
          </a:bodyPr>
          <a:lstStyle xmlns:a="http://schemas.openxmlformats.org/drawingml/2006/main"/>
          <a:p xmlns:a="http://schemas.openxmlformats.org/drawingml/2006/main">
            <a:pPr>
              <a:defRPr sz="1050" b="1">
                <a:solidFill>
                  <a:srgbClr val="137C78"/>
                </a:solidFill>
                <a:latin typeface="Arial"/>
                <a:ea typeface="Arial"/>
                <a:cs typeface="Arial"/>
              </a:defRPr>
            </a:pPr>
            <a:r>
              <a:rPr sz="1050" b="1">
                <a:solidFill>
                  <a:srgbClr val="137C78"/>
                </a:solidFill>
                <a:latin typeface="Arial"/>
                <a:ea typeface="Arial"/>
                <a:cs typeface="Arial"/>
              </a:rPr>
              <a:t>MODEL</a:t>
            </a:r>
          </a:p>
        </p:txBody>
      </p:sp>
      <p:sp>
        <p:nvSpPr>
          <p:cNvPr id="2" name="">
            <a:extLst xmlns:a="http://schemas.openxmlformats.org/drawingml/2006/main">
              <a:ext uri="{FF2B5EF4-FFF2-40B4-BE49-F238E27FC236}">
                <a16:creationId xmlns:a16="http://schemas.microsoft.com/office/drawing/2014/main" id="{876B6BBF-C146-40D9-99FE-5B2371E9860C}"/>
              </a:ext>
            </a:extLst>
          </p:cNvPr>
          <p:cNvSpPr>
            <a:spLocks xmlns:a="http://schemas.openxmlformats.org/drawingml/2006/main" noGrp="1"/>
          </p:cNvSpPr>
          <p:nvPr/>
        </p:nvSpPr>
        <p:spPr>
          <a:xfrm xmlns:a="http://schemas.openxmlformats.org/drawingml/2006/main">
            <a:off x="685800" y="647700"/>
            <a:ext cx="10810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700" b="1">
                <a:solidFill>
                  <a:srgbClr val="102A3B"/>
                </a:solidFill>
                <a:latin typeface="Arial"/>
                <a:ea typeface="Arial"/>
                <a:cs typeface="Arial"/>
              </a:defRPr>
            </a:pPr>
            <a:r>
              <a:rPr sz="2700" b="1">
                <a:solidFill>
                  <a:srgbClr val="102A3B"/>
                </a:solidFill>
                <a:latin typeface="Arial"/>
                <a:ea typeface="Arial"/>
                <a:cs typeface="Arial"/>
              </a:rPr>
              <a:t>A 36-value chromosome represents 12 zones</a:t>
            </a:r>
          </a:p>
        </p:txBody>
      </p:sp>
      <p:sp>
        <p:nvSpPr>
          <p:cNvPr id="3" name="">
            <a:extLst xmlns:a="http://schemas.openxmlformats.org/drawingml/2006/main">
              <a:ext uri="{FF2B5EF4-FFF2-40B4-BE49-F238E27FC236}">
                <a16:creationId xmlns:a16="http://schemas.microsoft.com/office/drawing/2014/main" id="{4B6B0066-9980-4DF1-93BB-59D4D1696C0D}"/>
              </a:ext>
            </a:extLst>
          </p:cNvPr>
          <p:cNvSpPr>
            <a:spLocks xmlns:a="http://schemas.openxmlformats.org/drawingml/2006/main" noGrp="1"/>
          </p:cNvSpPr>
          <p:nvPr/>
        </p:nvSpPr>
        <p:spPr>
          <a:xfrm xmlns:a="http://schemas.openxmlformats.org/drawingml/2006/main">
            <a:off x="685800" y="1390650"/>
            <a:ext cx="514350" cy="38100"/>
          </a:xfrm>
          <a:prstGeom xmlns:a="http://schemas.openxmlformats.org/drawingml/2006/main" prst="rect">
            <a:avLst/>
          </a:prstGeom>
          <a:solidFill xmlns:a="http://schemas.openxmlformats.org/drawingml/2006/main">
            <a:srgbClr val="137C7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023B3DE-ED09-4986-9EEA-FC52FD818493}"/>
              </a:ext>
            </a:extLst>
          </p:cNvPr>
          <p:cNvSpPr>
            <a:spLocks xmlns:a="http://schemas.openxmlformats.org/drawingml/2006/main" noGrp="1"/>
          </p:cNvSpPr>
          <p:nvPr/>
        </p:nvSpPr>
        <p:spPr>
          <a:xfrm xmlns:a="http://schemas.openxmlformats.org/drawingml/2006/main">
            <a:off x="685800" y="6486525"/>
            <a:ext cx="7239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2222"/>
          </a:bodyPr>
          <a:lstStyle xmlns:a="http://schemas.openxmlformats.org/drawingml/2006/main"/>
          <a:p xmlns:a="http://schemas.openxmlformats.org/drawingml/2006/main">
            <a:pPr>
              <a:defRPr sz="900" b="0">
                <a:solidFill>
                  <a:srgbClr val="607785"/>
                </a:solidFill>
                <a:latin typeface="Arial"/>
                <a:ea typeface="Arial"/>
                <a:cs typeface="Arial"/>
              </a:defRPr>
            </a:pPr>
            <a:r>
              <a:rPr sz="900" b="0">
                <a:solidFill>
                  <a:srgbClr val="607785"/>
                </a:solidFill>
                <a:latin typeface="Arial"/>
                <a:ea typeface="Arial"/>
                <a:cs typeface="Arial"/>
              </a:rPr>
              <a:t>Fuzzy-GA Smart Campus Energy Optimization</a:t>
            </a:r>
          </a:p>
        </p:txBody>
      </p:sp>
      <p:sp>
        <p:nvSpPr>
          <p:cNvPr id="5" name="">
            <a:extLst xmlns:a="http://schemas.openxmlformats.org/drawingml/2006/main">
              <a:ext uri="{FF2B5EF4-FFF2-40B4-BE49-F238E27FC236}">
                <a16:creationId xmlns:a16="http://schemas.microsoft.com/office/drawing/2014/main" id="{CE64A399-8B5F-4564-9FE1-44DD387BD986}"/>
              </a:ext>
            </a:extLst>
          </p:cNvPr>
          <p:cNvSpPr>
            <a:spLocks xmlns:a="http://schemas.openxmlformats.org/drawingml/2006/main" noGrp="1"/>
          </p:cNvSpPr>
          <p:nvPr/>
        </p:nvSpPr>
        <p:spPr>
          <a:xfrm xmlns:a="http://schemas.openxmlformats.org/drawingml/2006/main">
            <a:off x="685800" y="1809750"/>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defRPr sz="1350" b="1">
                <a:solidFill>
                  <a:srgbClr val="137C78"/>
                </a:solidFill>
                <a:latin typeface="Arial"/>
                <a:ea typeface="Arial"/>
                <a:cs typeface="Arial"/>
              </a:defRPr>
            </a:pPr>
            <a:r>
              <a:rPr sz="1350" b="1">
                <a:solidFill>
                  <a:srgbClr val="137C78"/>
                </a:solidFill>
                <a:latin typeface="Arial"/>
                <a:ea typeface="Arial"/>
                <a:cs typeface="Arial"/>
              </a:rPr>
              <a:t>For each zone z</a:t>
            </a:r>
          </a:p>
        </p:txBody>
      </p:sp>
      <p:sp>
        <p:nvSpPr>
          <p:cNvPr id="6" name="">
            <a:extLst xmlns:a="http://schemas.openxmlformats.org/drawingml/2006/main">
              <a:ext uri="{FF2B5EF4-FFF2-40B4-BE49-F238E27FC236}">
                <a16:creationId xmlns:a16="http://schemas.microsoft.com/office/drawing/2014/main" id="{F3928309-975C-47BB-B7D0-8AEECEB88D93}"/>
              </a:ext>
            </a:extLst>
          </p:cNvPr>
          <p:cNvSpPr>
            <a:spLocks xmlns:a="http://schemas.openxmlformats.org/drawingml/2006/main" noGrp="1"/>
          </p:cNvSpPr>
          <p:nvPr/>
        </p:nvSpPr>
        <p:spPr>
          <a:xfrm xmlns:a="http://schemas.openxmlformats.org/drawingml/2006/main">
            <a:off x="685800" y="2238375"/>
            <a:ext cx="4953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667"/>
          </a:bodyPr>
          <a:lstStyle xmlns:a="http://schemas.openxmlformats.org/drawingml/2006/main"/>
          <a:p xmlns:a="http://schemas.openxmlformats.org/drawingml/2006/main">
            <a:pPr>
              <a:defRPr sz="3000" b="1">
                <a:solidFill>
                  <a:srgbClr val="102A3B"/>
                </a:solidFill>
                <a:latin typeface="Arial"/>
                <a:ea typeface="Arial"/>
                <a:cs typeface="Arial"/>
              </a:defRPr>
            </a:pPr>
            <a:r>
              <a:rPr sz="3000" b="1">
                <a:solidFill>
                  <a:srgbClr val="102A3B"/>
                </a:solidFill>
                <a:latin typeface="Arial"/>
                <a:ea typeface="Arial"/>
                <a:cs typeface="Arial"/>
              </a:rPr>
              <a:t>[ Tz,  Vz,  Lz ]</a:t>
            </a:r>
          </a:p>
        </p:txBody>
      </p:sp>
      <p:sp>
        <p:nvSpPr>
          <p:cNvPr id="7" name="">
            <a:extLst xmlns:a="http://schemas.openxmlformats.org/drawingml/2006/main">
              <a:ext uri="{FF2B5EF4-FFF2-40B4-BE49-F238E27FC236}">
                <a16:creationId xmlns:a16="http://schemas.microsoft.com/office/drawing/2014/main" id="{B5B0162C-53EC-4F4C-A71A-554E99EF1BB7}"/>
              </a:ext>
            </a:extLst>
          </p:cNvPr>
          <p:cNvSpPr>
            <a:spLocks xmlns:a="http://schemas.openxmlformats.org/drawingml/2006/main" noGrp="1"/>
          </p:cNvSpPr>
          <p:nvPr/>
        </p:nvSpPr>
        <p:spPr>
          <a:xfrm xmlns:a="http://schemas.openxmlformats.org/drawingml/2006/main">
            <a:off x="685800" y="2876550"/>
            <a:ext cx="10620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75" b="0">
                <a:solidFill>
                  <a:srgbClr val="19384A"/>
                </a:solidFill>
                <a:latin typeface="Arial"/>
                <a:ea typeface="Arial"/>
                <a:cs typeface="Arial"/>
              </a:defRPr>
            </a:pPr>
            <a:r>
              <a:rPr sz="1575" b="0">
                <a:solidFill>
                  <a:srgbClr val="19384A"/>
                </a:solidFill>
                <a:latin typeface="Arial"/>
                <a:ea typeface="Arial"/>
                <a:cs typeface="Arial"/>
              </a:rPr>
              <a:t>Setpoint 22–27 °C     Ventilation 0.3–1.0     Lighting 0.2–1.0</a:t>
            </a:r>
          </a:p>
        </p:txBody>
      </p:sp>
      <p:sp>
        <p:nvSpPr>
          <p:cNvPr id="8" name="">
            <a:extLst xmlns:a="http://schemas.openxmlformats.org/drawingml/2006/main">
              <a:ext uri="{FF2B5EF4-FFF2-40B4-BE49-F238E27FC236}">
                <a16:creationId xmlns:a16="http://schemas.microsoft.com/office/drawing/2014/main" id="{1EB53339-0D0C-4E50-BD3E-568B12872DA5}"/>
              </a:ext>
            </a:extLst>
          </p:cNvPr>
          <p:cNvSpPr>
            <a:spLocks xmlns:a="http://schemas.openxmlformats.org/drawingml/2006/main" noGrp="1"/>
          </p:cNvSpPr>
          <p:nvPr/>
        </p:nvSpPr>
        <p:spPr>
          <a:xfrm xmlns:a="http://schemas.openxmlformats.org/drawingml/2006/main">
            <a:off x="685800" y="3581400"/>
            <a:ext cx="10820400" cy="9525"/>
          </a:xfrm>
          <a:prstGeom xmlns:a="http://schemas.openxmlformats.org/drawingml/2006/main" prst="rect">
            <a:avLst/>
          </a:prstGeom>
          <a:solidFill xmlns:a="http://schemas.openxmlformats.org/drawingml/2006/main">
            <a:srgbClr val="D9E3E5"/>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EB7A2404-A18C-4431-9217-21B11CD95F47}"/>
              </a:ext>
            </a:extLst>
          </p:cNvPr>
          <p:cNvSpPr>
            <a:spLocks xmlns:a="http://schemas.openxmlformats.org/drawingml/2006/main" noGrp="1"/>
          </p:cNvSpPr>
          <p:nvPr/>
        </p:nvSpPr>
        <p:spPr>
          <a:xfrm xmlns:a="http://schemas.openxmlformats.org/drawingml/2006/main">
            <a:off x="685800" y="3857625"/>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125" b="1">
                <a:solidFill>
                  <a:srgbClr val="137C78"/>
                </a:solidFill>
                <a:latin typeface="Arial"/>
                <a:ea typeface="Arial"/>
                <a:cs typeface="Arial"/>
              </a:defRPr>
            </a:pPr>
            <a:r>
              <a:rPr sz="1125" b="1">
                <a:solidFill>
                  <a:srgbClr val="137C78"/>
                </a:solidFill>
                <a:latin typeface="Arial"/>
                <a:ea typeface="Arial"/>
                <a:cs typeface="Arial"/>
              </a:rPr>
              <a:t>CANDIDATE →</a:t>
            </a:r>
          </a:p>
        </p:txBody>
      </p:sp>
      <p:sp>
        <p:nvSpPr>
          <p:cNvPr id="10" name="">
            <a:extLst xmlns:a="http://schemas.openxmlformats.org/drawingml/2006/main">
              <a:ext uri="{FF2B5EF4-FFF2-40B4-BE49-F238E27FC236}">
                <a16:creationId xmlns:a16="http://schemas.microsoft.com/office/drawing/2014/main" id="{0E166199-35DF-4D29-BABF-6468F18578B2}"/>
              </a:ext>
            </a:extLst>
          </p:cNvPr>
          <p:cNvSpPr>
            <a:spLocks xmlns:a="http://schemas.openxmlformats.org/drawingml/2006/main" noGrp="1"/>
          </p:cNvSpPr>
          <p:nvPr/>
        </p:nvSpPr>
        <p:spPr>
          <a:xfrm xmlns:a="http://schemas.openxmlformats.org/drawingml/2006/main">
            <a:off x="685800" y="4267200"/>
            <a:ext cx="2667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725" b="1">
                <a:solidFill>
                  <a:srgbClr val="102A3B"/>
                </a:solidFill>
                <a:latin typeface="Arial"/>
                <a:ea typeface="Arial"/>
                <a:cs typeface="Arial"/>
              </a:defRPr>
            </a:pPr>
            <a:r>
              <a:rPr sz="1725" b="1">
                <a:solidFill>
                  <a:srgbClr val="102A3B"/>
                </a:solidFill>
                <a:latin typeface="Arial"/>
                <a:ea typeface="Arial"/>
                <a:cs typeface="Arial"/>
              </a:rPr>
              <a:t>Estimate energy and CO₂</a:t>
            </a:r>
          </a:p>
        </p:txBody>
      </p:sp>
      <p:sp>
        <p:nvSpPr>
          <p:cNvPr id="11" name="">
            <a:extLst xmlns:a="http://schemas.openxmlformats.org/drawingml/2006/main">
              <a:ext uri="{FF2B5EF4-FFF2-40B4-BE49-F238E27FC236}">
                <a16:creationId xmlns:a16="http://schemas.microsoft.com/office/drawing/2014/main" id="{888E7DC9-EBE4-4F98-A026-5430FFF0411B}"/>
              </a:ext>
            </a:extLst>
          </p:cNvPr>
          <p:cNvSpPr>
            <a:spLocks xmlns:a="http://schemas.openxmlformats.org/drawingml/2006/main" noGrp="1"/>
          </p:cNvSpPr>
          <p:nvPr/>
        </p:nvSpPr>
        <p:spPr>
          <a:xfrm xmlns:a="http://schemas.openxmlformats.org/drawingml/2006/main">
            <a:off x="3524250" y="4295775"/>
            <a:ext cx="476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100" b="1">
                <a:solidFill>
                  <a:srgbClr val="137C78"/>
                </a:solidFill>
                <a:latin typeface="Arial"/>
                <a:ea typeface="Arial"/>
                <a:cs typeface="Arial"/>
              </a:defRPr>
            </a:pPr>
            <a:r>
              <a:rPr sz="2100" b="1">
                <a:solidFill>
                  <a:srgbClr val="137C78"/>
                </a:solidFill>
                <a:latin typeface="Arial"/>
                <a:ea typeface="Arial"/>
                <a:cs typeface="Arial"/>
              </a:rPr>
              <a:t>→</a:t>
            </a:r>
          </a:p>
        </p:txBody>
      </p:sp>
      <p:sp>
        <p:nvSpPr>
          <p:cNvPr id="12" name="">
            <a:extLst xmlns:a="http://schemas.openxmlformats.org/drawingml/2006/main">
              <a:ext uri="{FF2B5EF4-FFF2-40B4-BE49-F238E27FC236}">
                <a16:creationId xmlns:a16="http://schemas.microsoft.com/office/drawing/2014/main" id="{E0AD67BC-80E4-4177-9C76-FD75E834D213}"/>
              </a:ext>
            </a:extLst>
          </p:cNvPr>
          <p:cNvSpPr>
            <a:spLocks xmlns:a="http://schemas.openxmlformats.org/drawingml/2006/main" noGrp="1"/>
          </p:cNvSpPr>
          <p:nvPr/>
        </p:nvSpPr>
        <p:spPr>
          <a:xfrm xmlns:a="http://schemas.openxmlformats.org/drawingml/2006/main">
            <a:off x="4143375" y="4267200"/>
            <a:ext cx="2667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725" b="1">
                <a:solidFill>
                  <a:srgbClr val="102A3B"/>
                </a:solidFill>
                <a:latin typeface="Arial"/>
                <a:ea typeface="Arial"/>
                <a:cs typeface="Arial"/>
              </a:defRPr>
            </a:pPr>
            <a:r>
              <a:rPr sz="1725" b="1">
                <a:solidFill>
                  <a:srgbClr val="102A3B"/>
                </a:solidFill>
                <a:latin typeface="Arial"/>
                <a:ea typeface="Arial"/>
                <a:cs typeface="Arial"/>
              </a:rPr>
              <a:t>Infer comfort risk</a:t>
            </a:r>
          </a:p>
        </p:txBody>
      </p:sp>
      <p:sp>
        <p:nvSpPr>
          <p:cNvPr id="13" name="">
            <a:extLst xmlns:a="http://schemas.openxmlformats.org/drawingml/2006/main">
              <a:ext uri="{FF2B5EF4-FFF2-40B4-BE49-F238E27FC236}">
                <a16:creationId xmlns:a16="http://schemas.microsoft.com/office/drawing/2014/main" id="{1CBC4DDD-3CFA-4978-B728-7516DFBC8CD3}"/>
              </a:ext>
            </a:extLst>
          </p:cNvPr>
          <p:cNvSpPr>
            <a:spLocks xmlns:a="http://schemas.openxmlformats.org/drawingml/2006/main" noGrp="1"/>
          </p:cNvSpPr>
          <p:nvPr/>
        </p:nvSpPr>
        <p:spPr>
          <a:xfrm xmlns:a="http://schemas.openxmlformats.org/drawingml/2006/main">
            <a:off x="7000875" y="4295775"/>
            <a:ext cx="476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100" b="1">
                <a:solidFill>
                  <a:srgbClr val="137C78"/>
                </a:solidFill>
                <a:latin typeface="Arial"/>
                <a:ea typeface="Arial"/>
                <a:cs typeface="Arial"/>
              </a:defRPr>
            </a:pPr>
            <a:r>
              <a:rPr sz="2100" b="1">
                <a:solidFill>
                  <a:srgbClr val="137C78"/>
                </a:solidFill>
                <a:latin typeface="Arial"/>
                <a:ea typeface="Arial"/>
                <a:cs typeface="Arial"/>
              </a:rPr>
              <a:t>→</a:t>
            </a:r>
          </a:p>
        </p:txBody>
      </p:sp>
      <p:sp>
        <p:nvSpPr>
          <p:cNvPr id="14" name="">
            <a:extLst xmlns:a="http://schemas.openxmlformats.org/drawingml/2006/main">
              <a:ext uri="{FF2B5EF4-FFF2-40B4-BE49-F238E27FC236}">
                <a16:creationId xmlns:a16="http://schemas.microsoft.com/office/drawing/2014/main" id="{7E0B7B28-B754-4EBD-A99A-BC6CB488CFFD}"/>
              </a:ext>
            </a:extLst>
          </p:cNvPr>
          <p:cNvSpPr>
            <a:spLocks xmlns:a="http://schemas.openxmlformats.org/drawingml/2006/main" noGrp="1"/>
          </p:cNvSpPr>
          <p:nvPr/>
        </p:nvSpPr>
        <p:spPr>
          <a:xfrm xmlns:a="http://schemas.openxmlformats.org/drawingml/2006/main">
            <a:off x="7620000" y="4267200"/>
            <a:ext cx="2667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725" b="1">
                <a:solidFill>
                  <a:srgbClr val="102A3B"/>
                </a:solidFill>
                <a:latin typeface="Arial"/>
                <a:ea typeface="Arial"/>
                <a:cs typeface="Arial"/>
              </a:defRPr>
            </a:pPr>
            <a:r>
              <a:rPr sz="1725" b="1">
                <a:solidFill>
                  <a:srgbClr val="102A3B"/>
                </a:solidFill>
                <a:latin typeface="Arial"/>
                <a:ea typeface="Arial"/>
                <a:cs typeface="Arial"/>
              </a:rPr>
              <a:t>Score and evolve</a:t>
            </a:r>
          </a:p>
        </p:txBody>
      </p:sp>
      <p:sp>
        <p:nvSpPr>
          <p:cNvPr id="15" name="">
            <a:extLst xmlns:a="http://schemas.openxmlformats.org/drawingml/2006/main">
              <a:ext uri="{FF2B5EF4-FFF2-40B4-BE49-F238E27FC236}">
                <a16:creationId xmlns:a16="http://schemas.microsoft.com/office/drawing/2014/main" id="{1A198EEE-9AD2-4422-AFB5-F41A3F97EF3E}"/>
              </a:ext>
            </a:extLst>
          </p:cNvPr>
          <p:cNvSpPr>
            <a:spLocks xmlns:a="http://schemas.openxmlformats.org/drawingml/2006/main" noGrp="1"/>
          </p:cNvSpPr>
          <p:nvPr/>
        </p:nvSpPr>
        <p:spPr>
          <a:xfrm xmlns:a="http://schemas.openxmlformats.org/drawingml/2006/main">
            <a:off x="685800" y="5305425"/>
            <a:ext cx="108013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00" b="1">
                <a:solidFill>
                  <a:srgbClr val="19384A"/>
                </a:solidFill>
                <a:latin typeface="Arial"/>
                <a:ea typeface="Arial"/>
                <a:cs typeface="Arial"/>
              </a:defRPr>
            </a:pPr>
            <a:r>
              <a:rPr sz="1500" b="1">
                <a:solidFill>
                  <a:srgbClr val="19384A"/>
                </a:solidFill>
                <a:latin typeface="Arial"/>
                <a:ea typeface="Arial"/>
                <a:cs typeface="Arial"/>
              </a:rPr>
              <a:t>Fitness = (1 − w) × normalized energy + w × mean CRI + λ × CRI-weighted PMV excess</a:t>
            </a:r>
          </a:p>
        </p:txBody>
      </p:sp>
      <p:sp>
        <p:nvSpPr>
          <p:cNvPr id="16" name="">
            <a:extLst xmlns:a="http://schemas.openxmlformats.org/drawingml/2006/main">
              <a:ext uri="{FF2B5EF4-FFF2-40B4-BE49-F238E27FC236}">
                <a16:creationId xmlns:a16="http://schemas.microsoft.com/office/drawing/2014/main" id="{75B40B03-9531-4CEF-A8E1-9FA25D3F1D13}"/>
              </a:ext>
            </a:extLst>
          </p:cNvPr>
          <p:cNvSpPr>
            <a:spLocks xmlns:a="http://schemas.openxmlformats.org/drawingml/2006/main" noGrp="1"/>
          </p:cNvSpPr>
          <p:nvPr/>
        </p:nvSpPr>
        <p:spPr>
          <a:xfrm xmlns:a="http://schemas.openxmlformats.org/drawingml/2006/main">
            <a:off x="685800" y="5838825"/>
            <a:ext cx="10287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0">
                <a:solidFill>
                  <a:srgbClr val="607785"/>
                </a:solidFill>
                <a:latin typeface="Arial"/>
                <a:ea typeface="Arial"/>
                <a:cs typeface="Arial"/>
              </a:defRPr>
            </a:pPr>
            <a:r>
              <a:rPr sz="1275" b="0">
                <a:solidFill>
                  <a:srgbClr val="607785"/>
                </a:solidFill>
                <a:latin typeface="Arial"/>
                <a:ea typeface="Arial"/>
                <a:cs typeface="Arial"/>
              </a:rPr>
              <a:t>The comfort weight exposes the energy–comfort preference; λ increases as generations advance.</a:t>
            </a:r>
          </a:p>
        </p:txBody>
      </p:sp>
    </p:spTree>
    <p:extLst>
      <p:ext uri="{BB962C8B-B14F-4D97-AF65-F5344CB8AC3E}">
        <p14:creationId xmlns:p14="http://schemas.microsoft.com/office/powerpoint/2010/main" val="324828898"/>
      </p:ext>
    </p:extLst>
  </p:cSld>
</p:sld>
</file>

<file path=ppt/slides/slide5.xml><?xml version="1.0" encoding="utf-8"?>
<p:sld xmlns:p="http://schemas.openxmlformats.org/presentationml/2006/main">
  <p:cSld>
    <p:bg>
      <p:bgPr>
        <a:solidFill xmlns:a="http://schemas.openxmlformats.org/drawingml/2006/main">
          <a:srgbClr val="F6F8F7"/>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6A45D337-8160-4594-A80D-A3A159B5EAE9}"/>
              </a:ext>
            </a:extLst>
          </p:cNvPr>
          <p:cNvSpPr>
            <a:spLocks xmlns:a="http://schemas.openxmlformats.org/drawingml/2006/main" noGrp="1"/>
          </p:cNvSpPr>
          <p:nvPr/>
        </p:nvSpPr>
        <p:spPr>
          <a:xfrm xmlns:a="http://schemas.openxmlformats.org/drawingml/2006/main">
            <a:off x="685800" y="333375"/>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667"/>
          </a:bodyPr>
          <a:lstStyle xmlns:a="http://schemas.openxmlformats.org/drawingml/2006/main"/>
          <a:p xmlns:a="http://schemas.openxmlformats.org/drawingml/2006/main">
            <a:pPr>
              <a:defRPr sz="1050" b="1">
                <a:solidFill>
                  <a:srgbClr val="137C78"/>
                </a:solidFill>
                <a:latin typeface="Arial"/>
                <a:ea typeface="Arial"/>
                <a:cs typeface="Arial"/>
              </a:defRPr>
            </a:pPr>
            <a:r>
              <a:rPr sz="1050" b="1">
                <a:solidFill>
                  <a:srgbClr val="137C78"/>
                </a:solidFill>
                <a:latin typeface="Arial"/>
                <a:ea typeface="Arial"/>
                <a:cs typeface="Arial"/>
              </a:rPr>
              <a:t>RESULTS</a:t>
            </a:r>
          </a:p>
        </p:txBody>
      </p:sp>
      <p:sp>
        <p:nvSpPr>
          <p:cNvPr id="2" name="">
            <a:extLst xmlns:a="http://schemas.openxmlformats.org/drawingml/2006/main">
              <a:ext uri="{FF2B5EF4-FFF2-40B4-BE49-F238E27FC236}">
                <a16:creationId xmlns:a16="http://schemas.microsoft.com/office/drawing/2014/main" id="{C67D5416-9AB5-49B9-AE3D-AA173445330B}"/>
              </a:ext>
            </a:extLst>
          </p:cNvPr>
          <p:cNvSpPr>
            <a:spLocks xmlns:a="http://schemas.openxmlformats.org/drawingml/2006/main" noGrp="1"/>
          </p:cNvSpPr>
          <p:nvPr/>
        </p:nvSpPr>
        <p:spPr>
          <a:xfrm xmlns:a="http://schemas.openxmlformats.org/drawingml/2006/main">
            <a:off x="685800" y="647700"/>
            <a:ext cx="10810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700" b="1">
                <a:solidFill>
                  <a:srgbClr val="102A3B"/>
                </a:solidFill>
                <a:latin typeface="Arial"/>
                <a:ea typeface="Arial"/>
                <a:cs typeface="Arial"/>
              </a:defRPr>
            </a:pPr>
            <a:r>
              <a:rPr sz="2700" b="1">
                <a:solidFill>
                  <a:srgbClr val="102A3B"/>
                </a:solidFill>
                <a:latin typeface="Arial"/>
                <a:ea typeface="Arial"/>
                <a:cs typeface="Arial"/>
              </a:rPr>
              <a:t>Two result sets; two different experiments</a:t>
            </a:r>
          </a:p>
        </p:txBody>
      </p:sp>
      <p:sp>
        <p:nvSpPr>
          <p:cNvPr id="3" name="">
            <a:extLst xmlns:a="http://schemas.openxmlformats.org/drawingml/2006/main">
              <a:ext uri="{FF2B5EF4-FFF2-40B4-BE49-F238E27FC236}">
                <a16:creationId xmlns:a16="http://schemas.microsoft.com/office/drawing/2014/main" id="{E55D2663-0ECD-4493-B8AA-62CCEA862C5A}"/>
              </a:ext>
            </a:extLst>
          </p:cNvPr>
          <p:cNvSpPr>
            <a:spLocks xmlns:a="http://schemas.openxmlformats.org/drawingml/2006/main" noGrp="1"/>
          </p:cNvSpPr>
          <p:nvPr/>
        </p:nvSpPr>
        <p:spPr>
          <a:xfrm xmlns:a="http://schemas.openxmlformats.org/drawingml/2006/main">
            <a:off x="685800" y="1390650"/>
            <a:ext cx="514350" cy="38100"/>
          </a:xfrm>
          <a:prstGeom xmlns:a="http://schemas.openxmlformats.org/drawingml/2006/main" prst="rect">
            <a:avLst/>
          </a:prstGeom>
          <a:solidFill xmlns:a="http://schemas.openxmlformats.org/drawingml/2006/main">
            <a:srgbClr val="137C7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B07C4DC-10A7-44DD-9182-ADC7AD054573}"/>
              </a:ext>
            </a:extLst>
          </p:cNvPr>
          <p:cNvSpPr>
            <a:spLocks xmlns:a="http://schemas.openxmlformats.org/drawingml/2006/main" noGrp="1"/>
          </p:cNvSpPr>
          <p:nvPr/>
        </p:nvSpPr>
        <p:spPr>
          <a:xfrm xmlns:a="http://schemas.openxmlformats.org/drawingml/2006/main">
            <a:off x="685800" y="6486525"/>
            <a:ext cx="7239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2222"/>
          </a:bodyPr>
          <a:lstStyle xmlns:a="http://schemas.openxmlformats.org/drawingml/2006/main"/>
          <a:p xmlns:a="http://schemas.openxmlformats.org/drawingml/2006/main">
            <a:pPr>
              <a:defRPr sz="900" b="0">
                <a:solidFill>
                  <a:srgbClr val="607785"/>
                </a:solidFill>
                <a:latin typeface="Arial"/>
                <a:ea typeface="Arial"/>
                <a:cs typeface="Arial"/>
              </a:defRPr>
            </a:pPr>
            <a:r>
              <a:rPr sz="900" b="0">
                <a:solidFill>
                  <a:srgbClr val="607785"/>
                </a:solidFill>
                <a:latin typeface="Arial"/>
                <a:ea typeface="Arial"/>
                <a:cs typeface="Arial"/>
              </a:rPr>
              <a:t>Fuzzy-GA Smart Campus Energy Optimization</a:t>
            </a:r>
          </a:p>
        </p:txBody>
      </p:sp>
      <p:sp>
        <p:nvSpPr>
          <p:cNvPr id="5" name="">
            <a:extLst xmlns:a="http://schemas.openxmlformats.org/drawingml/2006/main">
              <a:ext uri="{FF2B5EF4-FFF2-40B4-BE49-F238E27FC236}">
                <a16:creationId xmlns:a16="http://schemas.microsoft.com/office/drawing/2014/main" id="{2C5E63CA-F0FC-49EF-94A5-7183E38A1818}"/>
              </a:ext>
            </a:extLst>
          </p:cNvPr>
          <p:cNvSpPr>
            <a:spLocks xmlns:a="http://schemas.openxmlformats.org/drawingml/2006/main" noGrp="1"/>
          </p:cNvSpPr>
          <p:nvPr/>
        </p:nvSpPr>
        <p:spPr>
          <a:xfrm xmlns:a="http://schemas.openxmlformats.org/drawingml/2006/main">
            <a:off x="685800" y="1685925"/>
            <a:ext cx="5334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667"/>
          </a:bodyPr>
          <a:lstStyle xmlns:a="http://schemas.openxmlformats.org/drawingml/2006/main"/>
          <a:p xmlns:a="http://schemas.openxmlformats.org/drawingml/2006/main">
            <a:pPr>
              <a:defRPr sz="1125" b="1">
                <a:solidFill>
                  <a:srgbClr val="137C78"/>
                </a:solidFill>
                <a:latin typeface="Arial"/>
                <a:ea typeface="Arial"/>
                <a:cs typeface="Arial"/>
              </a:defRPr>
            </a:pPr>
            <a:r>
              <a:rPr sz="1125" b="1">
                <a:solidFill>
                  <a:srgbClr val="137C78"/>
                </a:solidFill>
                <a:latin typeface="Arial"/>
                <a:ea typeface="Arial"/>
                <a:cs typeface="Arial"/>
              </a:rPr>
              <a:t>LOCAL DEMO · ONE SYNTHETIC HOUR</a:t>
            </a:r>
          </a:p>
        </p:txBody>
      </p:sp>
      <p:sp>
        <p:nvSpPr>
          <p:cNvPr id="6" name="">
            <a:extLst xmlns:a="http://schemas.openxmlformats.org/drawingml/2006/main">
              <a:ext uri="{FF2B5EF4-FFF2-40B4-BE49-F238E27FC236}">
                <a16:creationId xmlns:a16="http://schemas.microsoft.com/office/drawing/2014/main" id="{A222E7D9-937F-4421-B533-6D4331849193}"/>
              </a:ext>
            </a:extLst>
          </p:cNvPr>
          <p:cNvSpPr>
            <a:spLocks xmlns:a="http://schemas.openxmlformats.org/drawingml/2006/main" noGrp="1"/>
          </p:cNvSpPr>
          <p:nvPr/>
        </p:nvSpPr>
        <p:spPr>
          <a:xfrm xmlns:a="http://schemas.openxmlformats.org/drawingml/2006/main">
            <a:off x="685800" y="2114550"/>
            <a:ext cx="2190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927"/>
          </a:bodyPr>
          <a:lstStyle xmlns:a="http://schemas.openxmlformats.org/drawingml/2006/main"/>
          <a:p xmlns:a="http://schemas.openxmlformats.org/drawingml/2006/main">
            <a:pPr>
              <a:defRPr sz="3450" b="1">
                <a:solidFill>
                  <a:srgbClr val="102A3B"/>
                </a:solidFill>
                <a:latin typeface="Arial"/>
                <a:ea typeface="Arial"/>
                <a:cs typeface="Arial"/>
              </a:defRPr>
            </a:pPr>
            <a:r>
              <a:rPr sz="3450" b="1">
                <a:solidFill>
                  <a:srgbClr val="102A3B"/>
                </a:solidFill>
                <a:latin typeface="Arial"/>
                <a:ea typeface="Arial"/>
                <a:cs typeface="Arial"/>
              </a:rPr>
              <a:t>86.8</a:t>
            </a:r>
          </a:p>
        </p:txBody>
      </p:sp>
      <p:sp>
        <p:nvSpPr>
          <p:cNvPr id="7" name="">
            <a:extLst xmlns:a="http://schemas.openxmlformats.org/drawingml/2006/main">
              <a:ext uri="{FF2B5EF4-FFF2-40B4-BE49-F238E27FC236}">
                <a16:creationId xmlns:a16="http://schemas.microsoft.com/office/drawing/2014/main" id="{CEF38F06-3D02-4207-9020-9FF3FA50D143}"/>
              </a:ext>
            </a:extLst>
          </p:cNvPr>
          <p:cNvSpPr>
            <a:spLocks xmlns:a="http://schemas.openxmlformats.org/drawingml/2006/main" noGrp="1"/>
          </p:cNvSpPr>
          <p:nvPr/>
        </p:nvSpPr>
        <p:spPr>
          <a:xfrm xmlns:a="http://schemas.openxmlformats.org/drawingml/2006/main">
            <a:off x="2714625" y="2190750"/>
            <a:ext cx="52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250" b="1">
                <a:solidFill>
                  <a:srgbClr val="137C78"/>
                </a:solidFill>
                <a:latin typeface="Arial"/>
                <a:ea typeface="Arial"/>
                <a:cs typeface="Arial"/>
              </a:defRPr>
            </a:pPr>
            <a:r>
              <a:rPr sz="2250" b="1">
                <a:solidFill>
                  <a:srgbClr val="137C78"/>
                </a:solidFill>
                <a:latin typeface="Arial"/>
                <a:ea typeface="Arial"/>
                <a:cs typeface="Arial"/>
              </a:rPr>
              <a:t>→</a:t>
            </a:r>
          </a:p>
        </p:txBody>
      </p:sp>
      <p:sp>
        <p:nvSpPr>
          <p:cNvPr id="8" name="">
            <a:extLst xmlns:a="http://schemas.openxmlformats.org/drawingml/2006/main">
              <a:ext uri="{FF2B5EF4-FFF2-40B4-BE49-F238E27FC236}">
                <a16:creationId xmlns:a16="http://schemas.microsoft.com/office/drawing/2014/main" id="{B2C5D335-B969-43CE-97AB-0DF7F244B8B3}"/>
              </a:ext>
            </a:extLst>
          </p:cNvPr>
          <p:cNvSpPr>
            <a:spLocks xmlns:a="http://schemas.openxmlformats.org/drawingml/2006/main" noGrp="1"/>
          </p:cNvSpPr>
          <p:nvPr/>
        </p:nvSpPr>
        <p:spPr>
          <a:xfrm xmlns:a="http://schemas.openxmlformats.org/drawingml/2006/main">
            <a:off x="3343275" y="2114550"/>
            <a:ext cx="2190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927"/>
          </a:bodyPr>
          <a:lstStyle xmlns:a="http://schemas.openxmlformats.org/drawingml/2006/main"/>
          <a:p xmlns:a="http://schemas.openxmlformats.org/drawingml/2006/main">
            <a:pPr>
              <a:defRPr sz="3450" b="1">
                <a:solidFill>
                  <a:srgbClr val="102A3B"/>
                </a:solidFill>
                <a:latin typeface="Arial"/>
                <a:ea typeface="Arial"/>
                <a:cs typeface="Arial"/>
              </a:defRPr>
            </a:pPr>
            <a:r>
              <a:rPr sz="3450" b="1">
                <a:solidFill>
                  <a:srgbClr val="102A3B"/>
                </a:solidFill>
                <a:latin typeface="Arial"/>
                <a:ea typeface="Arial"/>
                <a:cs typeface="Arial"/>
              </a:rPr>
              <a:t>59.1</a:t>
            </a:r>
          </a:p>
        </p:txBody>
      </p:sp>
      <p:sp>
        <p:nvSpPr>
          <p:cNvPr id="9" name="">
            <a:extLst xmlns:a="http://schemas.openxmlformats.org/drawingml/2006/main">
              <a:ext uri="{FF2B5EF4-FFF2-40B4-BE49-F238E27FC236}">
                <a16:creationId xmlns:a16="http://schemas.microsoft.com/office/drawing/2014/main" id="{CB5072A2-C273-440B-9892-9420F708FF29}"/>
              </a:ext>
            </a:extLst>
          </p:cNvPr>
          <p:cNvSpPr>
            <a:spLocks xmlns:a="http://schemas.openxmlformats.org/drawingml/2006/main" noGrp="1"/>
          </p:cNvSpPr>
          <p:nvPr/>
        </p:nvSpPr>
        <p:spPr>
          <a:xfrm xmlns:a="http://schemas.openxmlformats.org/drawingml/2006/main">
            <a:off x="685800" y="2714625"/>
            <a:ext cx="2952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667"/>
          </a:bodyPr>
          <a:lstStyle xmlns:a="http://schemas.openxmlformats.org/drawingml/2006/main"/>
          <a:p xmlns:a="http://schemas.openxmlformats.org/drawingml/2006/main">
            <a:pPr>
              <a:defRPr sz="1125" b="0">
                <a:solidFill>
                  <a:srgbClr val="607785"/>
                </a:solidFill>
                <a:latin typeface="Arial"/>
                <a:ea typeface="Arial"/>
                <a:cs typeface="Arial"/>
              </a:defRPr>
            </a:pPr>
            <a:r>
              <a:rPr sz="1125" b="0">
                <a:solidFill>
                  <a:srgbClr val="607785"/>
                </a:solidFill>
                <a:latin typeface="Arial"/>
                <a:ea typeface="Arial"/>
                <a:cs typeface="Arial"/>
              </a:rPr>
              <a:t>modeled kWh proxy · fixed schedule</a:t>
            </a:r>
          </a:p>
        </p:txBody>
      </p:sp>
      <p:sp>
        <p:nvSpPr>
          <p:cNvPr id="10" name="">
            <a:extLst xmlns:a="http://schemas.openxmlformats.org/drawingml/2006/main">
              <a:ext uri="{FF2B5EF4-FFF2-40B4-BE49-F238E27FC236}">
                <a16:creationId xmlns:a16="http://schemas.microsoft.com/office/drawing/2014/main" id="{B1D70681-FBDF-4FC3-BC40-F17BB74CEBA7}"/>
              </a:ext>
            </a:extLst>
          </p:cNvPr>
          <p:cNvSpPr>
            <a:spLocks xmlns:a="http://schemas.openxmlformats.org/drawingml/2006/main" noGrp="1"/>
          </p:cNvSpPr>
          <p:nvPr/>
        </p:nvSpPr>
        <p:spPr>
          <a:xfrm xmlns:a="http://schemas.openxmlformats.org/drawingml/2006/main">
            <a:off x="3343275" y="2714625"/>
            <a:ext cx="2952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667"/>
          </a:bodyPr>
          <a:lstStyle xmlns:a="http://schemas.openxmlformats.org/drawingml/2006/main"/>
          <a:p xmlns:a="http://schemas.openxmlformats.org/drawingml/2006/main">
            <a:pPr>
              <a:defRPr sz="1125" b="0">
                <a:solidFill>
                  <a:srgbClr val="607785"/>
                </a:solidFill>
                <a:latin typeface="Arial"/>
                <a:ea typeface="Arial"/>
                <a:cs typeface="Arial"/>
              </a:defRPr>
            </a:pPr>
            <a:r>
              <a:rPr sz="1125" b="0">
                <a:solidFill>
                  <a:srgbClr val="607785"/>
                </a:solidFill>
                <a:latin typeface="Arial"/>
                <a:ea typeface="Arial"/>
                <a:cs typeface="Arial"/>
              </a:rPr>
              <a:t>modeled kWh proxy · GA candidate</a:t>
            </a:r>
          </a:p>
        </p:txBody>
      </p:sp>
      <p:sp>
        <p:nvSpPr>
          <p:cNvPr id="11" name="">
            <a:extLst xmlns:a="http://schemas.openxmlformats.org/drawingml/2006/main">
              <a:ext uri="{FF2B5EF4-FFF2-40B4-BE49-F238E27FC236}">
                <a16:creationId xmlns:a16="http://schemas.microsoft.com/office/drawing/2014/main" id="{A61418A5-05F4-4B5C-A628-4C2C90C1B5BA}"/>
              </a:ext>
            </a:extLst>
          </p:cNvPr>
          <p:cNvSpPr>
            <a:spLocks xmlns:a="http://schemas.openxmlformats.org/drawingml/2006/main" noGrp="1"/>
          </p:cNvSpPr>
          <p:nvPr/>
        </p:nvSpPr>
        <p:spPr>
          <a:xfrm xmlns:a="http://schemas.openxmlformats.org/drawingml/2006/main">
            <a:off x="685800" y="3152775"/>
            <a:ext cx="5276850" cy="28575"/>
          </a:xfrm>
          <a:prstGeom xmlns:a="http://schemas.openxmlformats.org/drawingml/2006/main" prst="rect">
            <a:avLst/>
          </a:prstGeom>
          <a:solidFill xmlns:a="http://schemas.openxmlformats.org/drawingml/2006/main">
            <a:srgbClr val="137C7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33407145-153A-47BC-A10C-8989B1BE0504}"/>
              </a:ext>
            </a:extLst>
          </p:cNvPr>
          <p:cNvSpPr>
            <a:spLocks xmlns:a="http://schemas.openxmlformats.org/drawingml/2006/main" noGrp="1"/>
          </p:cNvSpPr>
          <p:nvPr/>
        </p:nvSpPr>
        <p:spPr>
          <a:xfrm xmlns:a="http://schemas.openxmlformats.org/drawingml/2006/main">
            <a:off x="685800" y="3409950"/>
            <a:ext cx="5334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950" b="1">
                <a:solidFill>
                  <a:srgbClr val="19384A"/>
                </a:solidFill>
                <a:latin typeface="Arial"/>
                <a:ea typeface="Arial"/>
                <a:cs typeface="Arial"/>
              </a:defRPr>
            </a:pPr>
            <a:r>
              <a:rPr sz="1950" b="1">
                <a:solidFill>
                  <a:srgbClr val="19384A"/>
                </a:solidFill>
                <a:latin typeface="Arial"/>
                <a:ea typeface="Arial"/>
                <a:cs typeface="Arial"/>
              </a:rPr>
              <a:t>31.8% lower modeled energy</a:t>
            </a:r>
          </a:p>
        </p:txBody>
      </p:sp>
      <p:sp>
        <p:nvSpPr>
          <p:cNvPr id="13" name="">
            <a:extLst xmlns:a="http://schemas.openxmlformats.org/drawingml/2006/main">
              <a:ext uri="{FF2B5EF4-FFF2-40B4-BE49-F238E27FC236}">
                <a16:creationId xmlns:a16="http://schemas.microsoft.com/office/drawing/2014/main" id="{20E3B585-3098-4A2E-BF21-C5D754A20B12}"/>
              </a:ext>
            </a:extLst>
          </p:cNvPr>
          <p:cNvSpPr>
            <a:spLocks xmlns:a="http://schemas.openxmlformats.org/drawingml/2006/main" noGrp="1"/>
          </p:cNvSpPr>
          <p:nvPr/>
        </p:nvSpPr>
        <p:spPr>
          <a:xfrm xmlns:a="http://schemas.openxmlformats.org/drawingml/2006/main">
            <a:off x="685800" y="3886200"/>
            <a:ext cx="53816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0">
                <a:solidFill>
                  <a:srgbClr val="19384A"/>
                </a:solidFill>
                <a:latin typeface="Arial"/>
                <a:ea typeface="Arial"/>
                <a:cs typeface="Arial"/>
              </a:defRPr>
            </a:pPr>
            <a:r>
              <a:rPr sz="1350" b="0">
                <a:solidFill>
                  <a:srgbClr val="19384A"/>
                </a:solidFill>
                <a:latin typeface="Arial"/>
                <a:ea typeface="Arial"/>
                <a:cs typeface="Arial"/>
              </a:rPr>
              <a:t>Mean |PMV|: 0.16 → 0.37     ·     PMV &gt; 0.5: 0% → 8.3%</a:t>
            </a:r>
          </a:p>
        </p:txBody>
      </p:sp>
      <p:sp>
        <p:nvSpPr>
          <p:cNvPr id="14" name="">
            <a:extLst xmlns:a="http://schemas.openxmlformats.org/drawingml/2006/main">
              <a:ext uri="{FF2B5EF4-FFF2-40B4-BE49-F238E27FC236}">
                <a16:creationId xmlns:a16="http://schemas.microsoft.com/office/drawing/2014/main" id="{6048B3D3-7DEC-470F-8605-C15AD3800AA9}"/>
              </a:ext>
            </a:extLst>
          </p:cNvPr>
          <p:cNvSpPr>
            <a:spLocks xmlns:a="http://schemas.openxmlformats.org/drawingml/2006/main" noGrp="1"/>
          </p:cNvSpPr>
          <p:nvPr/>
        </p:nvSpPr>
        <p:spPr>
          <a:xfrm xmlns:a="http://schemas.openxmlformats.org/drawingml/2006/main">
            <a:off x="6610350" y="1685925"/>
            <a:ext cx="4953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667"/>
          </a:bodyPr>
          <a:lstStyle xmlns:a="http://schemas.openxmlformats.org/drawingml/2006/main"/>
          <a:p xmlns:a="http://schemas.openxmlformats.org/drawingml/2006/main">
            <a:pPr>
              <a:defRPr sz="1125" b="1">
                <a:solidFill>
                  <a:srgbClr val="DA8A45"/>
                </a:solidFill>
                <a:latin typeface="Arial"/>
                <a:ea typeface="Arial"/>
                <a:cs typeface="Arial"/>
              </a:defRPr>
            </a:pPr>
            <a:r>
              <a:rPr sz="1125" b="1">
                <a:solidFill>
                  <a:srgbClr val="DA8A45"/>
                </a:solidFill>
                <a:latin typeface="Arial"/>
                <a:ea typeface="Arial"/>
                <a:cs typeface="Arial"/>
              </a:rPr>
              <a:t>PAPER-REPORTED · SYNTHETIC YEAR TRACE</a:t>
            </a:r>
          </a:p>
        </p:txBody>
      </p:sp>
      <p:sp>
        <p:nvSpPr>
          <p:cNvPr id="15" name="">
            <a:extLst xmlns:a="http://schemas.openxmlformats.org/drawingml/2006/main">
              <a:ext uri="{FF2B5EF4-FFF2-40B4-BE49-F238E27FC236}">
                <a16:creationId xmlns:a16="http://schemas.microsoft.com/office/drawing/2014/main" id="{D6C31CB6-8035-4E97-AD11-6D78041C635C}"/>
              </a:ext>
            </a:extLst>
          </p:cNvPr>
          <p:cNvSpPr>
            <a:spLocks xmlns:a="http://schemas.openxmlformats.org/drawingml/2006/main" noGrp="1"/>
          </p:cNvSpPr>
          <p:nvPr/>
        </p:nvSpPr>
        <p:spPr>
          <a:xfrm xmlns:a="http://schemas.openxmlformats.org/drawingml/2006/main">
            <a:off x="6610350" y="2114550"/>
            <a:ext cx="3143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3600" b="1">
                <a:solidFill>
                  <a:srgbClr val="102A3B"/>
                </a:solidFill>
                <a:latin typeface="Arial"/>
                <a:ea typeface="Arial"/>
                <a:cs typeface="Arial"/>
              </a:defRPr>
            </a:pPr>
            <a:r>
              <a:rPr sz="3600" b="1">
                <a:solidFill>
                  <a:srgbClr val="102A3B"/>
                </a:solidFill>
                <a:latin typeface="Arial"/>
                <a:ea typeface="Arial"/>
                <a:cs typeface="Arial"/>
              </a:rPr>
              <a:t>21.4%</a:t>
            </a:r>
          </a:p>
        </p:txBody>
      </p:sp>
      <p:sp>
        <p:nvSpPr>
          <p:cNvPr id="16" name="">
            <a:extLst xmlns:a="http://schemas.openxmlformats.org/drawingml/2006/main">
              <a:ext uri="{FF2B5EF4-FFF2-40B4-BE49-F238E27FC236}">
                <a16:creationId xmlns:a16="http://schemas.microsoft.com/office/drawing/2014/main" id="{D9D79B78-B597-4338-A611-7E62B5EE5E18}"/>
              </a:ext>
            </a:extLst>
          </p:cNvPr>
          <p:cNvSpPr>
            <a:spLocks xmlns:a="http://schemas.openxmlformats.org/drawingml/2006/main" noGrp="1"/>
          </p:cNvSpPr>
          <p:nvPr/>
        </p:nvSpPr>
        <p:spPr>
          <a:xfrm xmlns:a="http://schemas.openxmlformats.org/drawingml/2006/main">
            <a:off x="6610350" y="2809875"/>
            <a:ext cx="45529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75" b="0">
                <a:solidFill>
                  <a:srgbClr val="19384A"/>
                </a:solidFill>
                <a:latin typeface="Arial"/>
                <a:ea typeface="Arial"/>
                <a:cs typeface="Arial"/>
              </a:defRPr>
            </a:pPr>
            <a:r>
              <a:rPr sz="1575" b="0">
                <a:solidFill>
                  <a:srgbClr val="19384A"/>
                </a:solidFill>
                <a:latin typeface="Arial"/>
                <a:ea typeface="Arial"/>
                <a:cs typeface="Arial"/>
              </a:rPr>
              <a:t>reported daily energy reduction for the paper’s separate 8,760-hour synthetic trace</a:t>
            </a:r>
          </a:p>
        </p:txBody>
      </p:sp>
      <p:sp>
        <p:nvSpPr>
          <p:cNvPr id="17" name="">
            <a:extLst xmlns:a="http://schemas.openxmlformats.org/drawingml/2006/main">
              <a:ext uri="{FF2B5EF4-FFF2-40B4-BE49-F238E27FC236}">
                <a16:creationId xmlns:a16="http://schemas.microsoft.com/office/drawing/2014/main" id="{613CB57B-5A09-45BC-ACAF-03940786DC44}"/>
              </a:ext>
            </a:extLst>
          </p:cNvPr>
          <p:cNvSpPr>
            <a:spLocks xmlns:a="http://schemas.openxmlformats.org/drawingml/2006/main" noGrp="1"/>
          </p:cNvSpPr>
          <p:nvPr/>
        </p:nvSpPr>
        <p:spPr>
          <a:xfrm xmlns:a="http://schemas.openxmlformats.org/drawingml/2006/main">
            <a:off x="6610350" y="3838575"/>
            <a:ext cx="4895850" cy="9525"/>
          </a:xfrm>
          <a:prstGeom xmlns:a="http://schemas.openxmlformats.org/drawingml/2006/main" prst="rect">
            <a:avLst/>
          </a:prstGeom>
          <a:solidFill xmlns:a="http://schemas.openxmlformats.org/drawingml/2006/main">
            <a:srgbClr val="D9E3E5"/>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218D0E45-9D2F-4BF3-A384-46BB90DE47E6}"/>
              </a:ext>
            </a:extLst>
          </p:cNvPr>
          <p:cNvSpPr>
            <a:spLocks xmlns:a="http://schemas.openxmlformats.org/drawingml/2006/main" noGrp="1"/>
          </p:cNvSpPr>
          <p:nvPr/>
        </p:nvSpPr>
        <p:spPr>
          <a:xfrm xmlns:a="http://schemas.openxmlformats.org/drawingml/2006/main">
            <a:off x="6610350" y="4048125"/>
            <a:ext cx="476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1">
                <a:solidFill>
                  <a:srgbClr val="102A3B"/>
                </a:solidFill>
                <a:latin typeface="Arial"/>
                <a:ea typeface="Arial"/>
                <a:cs typeface="Arial"/>
              </a:defRPr>
            </a:pPr>
            <a:r>
              <a:rPr sz="1425" b="1">
                <a:solidFill>
                  <a:srgbClr val="102A3B"/>
                </a:solidFill>
                <a:latin typeface="Arial"/>
                <a:ea typeface="Arial"/>
                <a:cs typeface="Arial"/>
              </a:rPr>
              <a:t>These figures are not directly comparable.</a:t>
            </a:r>
          </a:p>
        </p:txBody>
      </p:sp>
      <p:sp>
        <p:nvSpPr>
          <p:cNvPr id="19" name="">
            <a:extLst xmlns:a="http://schemas.openxmlformats.org/drawingml/2006/main">
              <a:ext uri="{FF2B5EF4-FFF2-40B4-BE49-F238E27FC236}">
                <a16:creationId xmlns:a16="http://schemas.microsoft.com/office/drawing/2014/main" id="{7944D97D-AE9C-430A-8E2B-1C94B6CD95F8}"/>
              </a:ext>
            </a:extLst>
          </p:cNvPr>
          <p:cNvSpPr>
            <a:spLocks xmlns:a="http://schemas.openxmlformats.org/drawingml/2006/main" noGrp="1"/>
          </p:cNvSpPr>
          <p:nvPr/>
        </p:nvSpPr>
        <p:spPr>
          <a:xfrm xmlns:a="http://schemas.openxmlformats.org/drawingml/2006/main">
            <a:off x="6610350" y="4438650"/>
            <a:ext cx="4648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0">
                <a:solidFill>
                  <a:srgbClr val="607785"/>
                </a:solidFill>
                <a:latin typeface="Arial"/>
                <a:ea typeface="Arial"/>
                <a:cs typeface="Arial"/>
              </a:defRPr>
            </a:pPr>
            <a:r>
              <a:rPr sz="1350" b="0">
                <a:solidFill>
                  <a:srgbClr val="607785"/>
                </a:solidFill>
                <a:latin typeface="Arial"/>
                <a:ea typeface="Arial"/>
                <a:cs typeface="Arial"/>
              </a:rPr>
              <a:t>The demo uses a different scenario, model, horizon and evaluation protocol.</a:t>
            </a:r>
          </a:p>
        </p:txBody>
      </p:sp>
      <p:sp>
        <p:nvSpPr>
          <p:cNvPr id="20" name="">
            <a:extLst xmlns:a="http://schemas.openxmlformats.org/drawingml/2006/main">
              <a:ext uri="{FF2B5EF4-FFF2-40B4-BE49-F238E27FC236}">
                <a16:creationId xmlns:a16="http://schemas.microsoft.com/office/drawing/2014/main" id="{B5943DA9-B3E0-4F28-AC3D-969990B33B0A}"/>
              </a:ext>
            </a:extLst>
          </p:cNvPr>
          <p:cNvSpPr>
            <a:spLocks xmlns:a="http://schemas.openxmlformats.org/drawingml/2006/main" noGrp="1"/>
          </p:cNvSpPr>
          <p:nvPr/>
        </p:nvSpPr>
        <p:spPr>
          <a:xfrm xmlns:a="http://schemas.openxmlformats.org/drawingml/2006/main">
            <a:off x="685800" y="5305425"/>
            <a:ext cx="10820400" cy="457200"/>
          </a:xfrm>
          <a:prstGeom xmlns:a="http://schemas.openxmlformats.org/drawingml/2006/main" prst="rect">
            <a:avLst/>
          </a:prstGeom>
          <a:solidFill xmlns:a="http://schemas.openxmlformats.org/drawingml/2006/main">
            <a:srgbClr val="FFF2E4"/>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0D7F03B6-22BA-43EA-B475-5C3B044FC688}"/>
              </a:ext>
            </a:extLst>
          </p:cNvPr>
          <p:cNvSpPr>
            <a:spLocks xmlns:a="http://schemas.openxmlformats.org/drawingml/2006/main" noGrp="1"/>
          </p:cNvSpPr>
          <p:nvPr/>
        </p:nvSpPr>
        <p:spPr>
          <a:xfrm xmlns:a="http://schemas.openxmlformats.org/drawingml/2006/main">
            <a:off x="847725" y="5381625"/>
            <a:ext cx="103346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1">
                <a:solidFill>
                  <a:srgbClr val="805B38"/>
                </a:solidFill>
                <a:latin typeface="Arial"/>
                <a:ea typeface="Arial"/>
                <a:cs typeface="Arial"/>
              </a:defRPr>
            </a:pPr>
            <a:r>
              <a:rPr sz="1275" b="1">
                <a:solidFill>
                  <a:srgbClr val="805B38"/>
                </a:solidFill>
                <a:latin typeface="Arial"/>
                <a:ea typeface="Arial"/>
                <a:cs typeface="Arial"/>
              </a:rPr>
              <a:t>All local-demo values are model outputs, not measured campus savings.</a:t>
            </a:r>
          </a:p>
        </p:txBody>
      </p:sp>
    </p:spTree>
    <p:extLst>
      <p:ext uri="{BB962C8B-B14F-4D97-AF65-F5344CB8AC3E}">
        <p14:creationId xmlns:p14="http://schemas.microsoft.com/office/powerpoint/2010/main" val="742692813"/>
      </p:ext>
    </p:extLst>
  </p:cSld>
</p:sld>
</file>

<file path=ppt/slides/slide6.xml><?xml version="1.0" encoding="utf-8"?>
<p:sld xmlns:p="http://schemas.openxmlformats.org/presentationml/2006/main">
  <p:cSld>
    <p:bg>
      <p:bgPr>
        <a:solidFill xmlns:a="http://schemas.openxmlformats.org/drawingml/2006/main">
          <a:srgbClr val="F6F8F7"/>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3AE7D44B-B4EB-46FB-914C-BDDB8BA4458D}"/>
              </a:ext>
            </a:extLst>
          </p:cNvPr>
          <p:cNvSpPr>
            <a:spLocks xmlns:a="http://schemas.openxmlformats.org/drawingml/2006/main" noGrp="1"/>
          </p:cNvSpPr>
          <p:nvPr/>
        </p:nvSpPr>
        <p:spPr>
          <a:xfrm xmlns:a="http://schemas.openxmlformats.org/drawingml/2006/main">
            <a:off x="685800" y="333375"/>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667"/>
          </a:bodyPr>
          <a:lstStyle xmlns:a="http://schemas.openxmlformats.org/drawingml/2006/main"/>
          <a:p xmlns:a="http://schemas.openxmlformats.org/drawingml/2006/main">
            <a:pPr>
              <a:defRPr sz="1050" b="1">
                <a:solidFill>
                  <a:srgbClr val="137C78"/>
                </a:solidFill>
                <a:latin typeface="Arial"/>
                <a:ea typeface="Arial"/>
                <a:cs typeface="Arial"/>
              </a:defRPr>
            </a:pPr>
            <a:r>
              <a:rPr sz="1050" b="1">
                <a:solidFill>
                  <a:srgbClr val="137C78"/>
                </a:solidFill>
                <a:latin typeface="Arial"/>
                <a:ea typeface="Arial"/>
                <a:cs typeface="Arial"/>
              </a:rPr>
              <a:t>SCOPE</a:t>
            </a:r>
          </a:p>
        </p:txBody>
      </p:sp>
      <p:sp>
        <p:nvSpPr>
          <p:cNvPr id="2" name="">
            <a:extLst xmlns:a="http://schemas.openxmlformats.org/drawingml/2006/main">
              <a:ext uri="{FF2B5EF4-FFF2-40B4-BE49-F238E27FC236}">
                <a16:creationId xmlns:a16="http://schemas.microsoft.com/office/drawing/2014/main" id="{2693D91F-FD97-4536-B1B6-9649BF35C7C7}"/>
              </a:ext>
            </a:extLst>
          </p:cNvPr>
          <p:cNvSpPr>
            <a:spLocks xmlns:a="http://schemas.openxmlformats.org/drawingml/2006/main" noGrp="1"/>
          </p:cNvSpPr>
          <p:nvPr/>
        </p:nvSpPr>
        <p:spPr>
          <a:xfrm xmlns:a="http://schemas.openxmlformats.org/drawingml/2006/main">
            <a:off x="685800" y="647700"/>
            <a:ext cx="10810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700" b="1">
                <a:solidFill>
                  <a:srgbClr val="102A3B"/>
                </a:solidFill>
                <a:latin typeface="Arial"/>
                <a:ea typeface="Arial"/>
                <a:cs typeface="Arial"/>
              </a:defRPr>
            </a:pPr>
            <a:r>
              <a:rPr sz="2700" b="1">
                <a:solidFill>
                  <a:srgbClr val="102A3B"/>
                </a:solidFill>
                <a:latin typeface="Arial"/>
                <a:ea typeface="Arial"/>
                <a:cs typeface="Arial"/>
              </a:rPr>
              <a:t>What is built and what still needs validation</a:t>
            </a:r>
          </a:p>
        </p:txBody>
      </p:sp>
      <p:sp>
        <p:nvSpPr>
          <p:cNvPr id="3" name="">
            <a:extLst xmlns:a="http://schemas.openxmlformats.org/drawingml/2006/main">
              <a:ext uri="{FF2B5EF4-FFF2-40B4-BE49-F238E27FC236}">
                <a16:creationId xmlns:a16="http://schemas.microsoft.com/office/drawing/2014/main" id="{60AE2503-F1D1-409D-95BC-FB4DEB6C01A8}"/>
              </a:ext>
            </a:extLst>
          </p:cNvPr>
          <p:cNvSpPr>
            <a:spLocks xmlns:a="http://schemas.openxmlformats.org/drawingml/2006/main" noGrp="1"/>
          </p:cNvSpPr>
          <p:nvPr/>
        </p:nvSpPr>
        <p:spPr>
          <a:xfrm xmlns:a="http://schemas.openxmlformats.org/drawingml/2006/main">
            <a:off x="685800" y="1390650"/>
            <a:ext cx="514350" cy="38100"/>
          </a:xfrm>
          <a:prstGeom xmlns:a="http://schemas.openxmlformats.org/drawingml/2006/main" prst="rect">
            <a:avLst/>
          </a:prstGeom>
          <a:solidFill xmlns:a="http://schemas.openxmlformats.org/drawingml/2006/main">
            <a:srgbClr val="137C7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076835E-5F9B-4436-9055-3029C0EA6705}"/>
              </a:ext>
            </a:extLst>
          </p:cNvPr>
          <p:cNvSpPr>
            <a:spLocks xmlns:a="http://schemas.openxmlformats.org/drawingml/2006/main" noGrp="1"/>
          </p:cNvSpPr>
          <p:nvPr/>
        </p:nvSpPr>
        <p:spPr>
          <a:xfrm xmlns:a="http://schemas.openxmlformats.org/drawingml/2006/main">
            <a:off x="685800" y="6486525"/>
            <a:ext cx="7239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2222"/>
          </a:bodyPr>
          <a:lstStyle xmlns:a="http://schemas.openxmlformats.org/drawingml/2006/main"/>
          <a:p xmlns:a="http://schemas.openxmlformats.org/drawingml/2006/main">
            <a:pPr>
              <a:defRPr sz="900" b="0">
                <a:solidFill>
                  <a:srgbClr val="607785"/>
                </a:solidFill>
                <a:latin typeface="Arial"/>
                <a:ea typeface="Arial"/>
                <a:cs typeface="Arial"/>
              </a:defRPr>
            </a:pPr>
            <a:r>
              <a:rPr sz="900" b="0">
                <a:solidFill>
                  <a:srgbClr val="607785"/>
                </a:solidFill>
                <a:latin typeface="Arial"/>
                <a:ea typeface="Arial"/>
                <a:cs typeface="Arial"/>
              </a:rPr>
              <a:t>Fuzzy-GA Smart Campus Energy Optimization</a:t>
            </a:r>
          </a:p>
        </p:txBody>
      </p:sp>
      <p:sp>
        <p:nvSpPr>
          <p:cNvPr id="5" name="">
            <a:extLst xmlns:a="http://schemas.openxmlformats.org/drawingml/2006/main">
              <a:ext uri="{FF2B5EF4-FFF2-40B4-BE49-F238E27FC236}">
                <a16:creationId xmlns:a16="http://schemas.microsoft.com/office/drawing/2014/main" id="{1968E59D-106E-42D1-B0C8-F89549B49C06}"/>
              </a:ext>
            </a:extLst>
          </p:cNvPr>
          <p:cNvSpPr>
            <a:spLocks xmlns:a="http://schemas.openxmlformats.org/drawingml/2006/main" noGrp="1"/>
          </p:cNvSpPr>
          <p:nvPr/>
        </p:nvSpPr>
        <p:spPr>
          <a:xfrm xmlns:a="http://schemas.openxmlformats.org/drawingml/2006/main">
            <a:off x="685800" y="1809750"/>
            <a:ext cx="5048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125" b="1">
                <a:solidFill>
                  <a:srgbClr val="137C78"/>
                </a:solidFill>
                <a:latin typeface="Arial"/>
                <a:ea typeface="Arial"/>
                <a:cs typeface="Arial"/>
              </a:defRPr>
            </a:pPr>
            <a:r>
              <a:rPr sz="1125" b="1">
                <a:solidFill>
                  <a:srgbClr val="137C78"/>
                </a:solidFill>
                <a:latin typeface="Arial"/>
                <a:ea typeface="Arial"/>
                <a:cs typeface="Arial"/>
              </a:rPr>
              <a:t>BUILT FOR THE DEMONSTRATION</a:t>
            </a:r>
          </a:p>
        </p:txBody>
      </p:sp>
      <p:sp>
        <p:nvSpPr>
          <p:cNvPr id="6" name="">
            <a:extLst xmlns:a="http://schemas.openxmlformats.org/drawingml/2006/main">
              <a:ext uri="{FF2B5EF4-FFF2-40B4-BE49-F238E27FC236}">
                <a16:creationId xmlns:a16="http://schemas.microsoft.com/office/drawing/2014/main" id="{FEB614E3-B66E-4D2F-A99D-D72EC4B23858}"/>
              </a:ext>
            </a:extLst>
          </p:cNvPr>
          <p:cNvSpPr>
            <a:spLocks xmlns:a="http://schemas.openxmlformats.org/drawingml/2006/main" noGrp="1"/>
          </p:cNvSpPr>
          <p:nvPr/>
        </p:nvSpPr>
        <p:spPr>
          <a:xfrm xmlns:a="http://schemas.openxmlformats.org/drawingml/2006/main">
            <a:off x="685800" y="2238375"/>
            <a:ext cx="4953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75" b="0">
                <a:solidFill>
                  <a:srgbClr val="19384A"/>
                </a:solidFill>
                <a:latin typeface="Arial"/>
                <a:ea typeface="Arial"/>
                <a:cs typeface="Arial"/>
              </a:defRPr>
            </a:pPr>
            <a:r>
              <a:rPr sz="1575" b="0">
                <a:solidFill>
                  <a:srgbClr val="19384A"/>
                </a:solidFill>
                <a:latin typeface="Arial"/>
                <a:ea typeface="Arial"/>
                <a:cs typeface="Arial"/>
              </a:rPr>
              <a:t>• Local browser dashboard</a:t>
            </a:r>
          </a:p>
          <a:p xmlns:a="http://schemas.openxmlformats.org/drawingml/2006/main">
            <a:pPr>
              <a:defRPr sz="1575" b="0">
                <a:solidFill>
                  <a:srgbClr val="19384A"/>
                </a:solidFill>
                <a:latin typeface="Arial"/>
                <a:ea typeface="Arial"/>
                <a:cs typeface="Arial"/>
              </a:defRPr>
            </a:pPr>
            <a:r>
              <a:rPr sz="1575" b="0">
                <a:solidFill>
                  <a:srgbClr val="19384A"/>
                </a:solidFill>
                <a:latin typeface="Arial"/>
                <a:ea typeface="Arial"/>
                <a:cs typeface="Arial"/>
              </a:rPr>
              <a:t>• 12-zone, 36-decision GA search</a:t>
            </a:r>
          </a:p>
          <a:p xmlns:a="http://schemas.openxmlformats.org/drawingml/2006/main">
            <a:pPr>
              <a:defRPr sz="1575" b="0">
                <a:solidFill>
                  <a:srgbClr val="19384A"/>
                </a:solidFill>
                <a:latin typeface="Arial"/>
                <a:ea typeface="Arial"/>
                <a:cs typeface="Arial"/>
              </a:defRPr>
            </a:pPr>
            <a:r>
              <a:rPr sz="1575" b="0">
                <a:solidFill>
                  <a:srgbClr val="19384A"/>
                </a:solidFill>
                <a:latin typeface="Arial"/>
                <a:ea typeface="Arial"/>
                <a:cs typeface="Arial"/>
              </a:rPr>
              <a:t>• Interpretable fuzzy-rule score</a:t>
            </a:r>
          </a:p>
          <a:p xmlns:a="http://schemas.openxmlformats.org/drawingml/2006/main">
            <a:pPr>
              <a:defRPr sz="1575" b="0">
                <a:solidFill>
                  <a:srgbClr val="19384A"/>
                </a:solidFill>
                <a:latin typeface="Arial"/>
                <a:ea typeface="Arial"/>
                <a:cs typeface="Arial"/>
              </a:defRPr>
            </a:pPr>
            <a:r>
              <a:rPr sz="1575" b="0">
                <a:solidFill>
                  <a:srgbClr val="19384A"/>
                </a:solidFill>
                <a:latin typeface="Arial"/>
                <a:ea typeface="Arial"/>
                <a:cs typeface="Arial"/>
              </a:rPr>
              <a:t>• PMV, CRI, energy and convergence views</a:t>
            </a:r>
          </a:p>
        </p:txBody>
      </p:sp>
      <p:sp>
        <p:nvSpPr>
          <p:cNvPr id="7" name="">
            <a:extLst xmlns:a="http://schemas.openxmlformats.org/drawingml/2006/main">
              <a:ext uri="{FF2B5EF4-FFF2-40B4-BE49-F238E27FC236}">
                <a16:creationId xmlns:a16="http://schemas.microsoft.com/office/drawing/2014/main" id="{1640773A-1FB1-4E17-80E1-1316D92710DF}"/>
              </a:ext>
            </a:extLst>
          </p:cNvPr>
          <p:cNvSpPr>
            <a:spLocks xmlns:a="http://schemas.openxmlformats.org/drawingml/2006/main" noGrp="1"/>
          </p:cNvSpPr>
          <p:nvPr/>
        </p:nvSpPr>
        <p:spPr>
          <a:xfrm xmlns:a="http://schemas.openxmlformats.org/drawingml/2006/main">
            <a:off x="6000750" y="1809750"/>
            <a:ext cx="9525" cy="3190875"/>
          </a:xfrm>
          <a:prstGeom xmlns:a="http://schemas.openxmlformats.org/drawingml/2006/main" prst="rect">
            <a:avLst/>
          </a:prstGeom>
          <a:solidFill xmlns:a="http://schemas.openxmlformats.org/drawingml/2006/main">
            <a:srgbClr val="D9E3E5"/>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E4A168EC-9BC7-4AD9-8386-9158FA4DDD98}"/>
              </a:ext>
            </a:extLst>
          </p:cNvPr>
          <p:cNvSpPr>
            <a:spLocks xmlns:a="http://schemas.openxmlformats.org/drawingml/2006/main" noGrp="1"/>
          </p:cNvSpPr>
          <p:nvPr/>
        </p:nvSpPr>
        <p:spPr>
          <a:xfrm xmlns:a="http://schemas.openxmlformats.org/drawingml/2006/main">
            <a:off x="6572250" y="1809750"/>
            <a:ext cx="476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125" b="1">
                <a:solidFill>
                  <a:srgbClr val="DA8A45"/>
                </a:solidFill>
                <a:latin typeface="Arial"/>
                <a:ea typeface="Arial"/>
                <a:cs typeface="Arial"/>
              </a:defRPr>
            </a:pPr>
            <a:r>
              <a:rPr sz="1125" b="1">
                <a:solidFill>
                  <a:srgbClr val="DA8A45"/>
                </a:solidFill>
                <a:latin typeface="Arial"/>
                <a:ea typeface="Arial"/>
                <a:cs typeface="Arial"/>
              </a:rPr>
              <a:t>NEXT RESEARCH STEPS</a:t>
            </a:r>
          </a:p>
        </p:txBody>
      </p:sp>
      <p:sp>
        <p:nvSpPr>
          <p:cNvPr id="9" name="">
            <a:extLst xmlns:a="http://schemas.openxmlformats.org/drawingml/2006/main">
              <a:ext uri="{FF2B5EF4-FFF2-40B4-BE49-F238E27FC236}">
                <a16:creationId xmlns:a16="http://schemas.microsoft.com/office/drawing/2014/main" id="{98A9B203-9389-4C90-8D80-524E198CD012}"/>
              </a:ext>
            </a:extLst>
          </p:cNvPr>
          <p:cNvSpPr>
            <a:spLocks xmlns:a="http://schemas.openxmlformats.org/drawingml/2006/main" noGrp="1"/>
          </p:cNvSpPr>
          <p:nvPr/>
        </p:nvSpPr>
        <p:spPr>
          <a:xfrm xmlns:a="http://schemas.openxmlformats.org/drawingml/2006/main">
            <a:off x="6572250" y="2238375"/>
            <a:ext cx="493395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00" b="0">
                <a:solidFill>
                  <a:srgbClr val="19384A"/>
                </a:solidFill>
                <a:latin typeface="Arial"/>
                <a:ea typeface="Arial"/>
                <a:cs typeface="Arial"/>
              </a:defRPr>
            </a:pPr>
            <a:r>
              <a:rPr sz="1500" b="0">
                <a:solidFill>
                  <a:srgbClr val="19384A"/>
                </a:solidFill>
                <a:latin typeface="Arial"/>
                <a:ea typeface="Arial"/>
                <a:cs typeface="Arial"/>
              </a:rPr>
              <a:t>1. Calibrate with measured campus telemetry</a:t>
            </a:r>
          </a:p>
          <a:p xmlns:a="http://schemas.openxmlformats.org/drawingml/2006/main">
            <a:pPr>
              <a:defRPr sz="1500" b="0">
                <a:solidFill>
                  <a:srgbClr val="19384A"/>
                </a:solidFill>
                <a:latin typeface="Arial"/>
                <a:ea typeface="Arial"/>
                <a:cs typeface="Arial"/>
              </a:defRPr>
            </a:pPr>
            <a:r>
              <a:rPr sz="1500" b="0">
                <a:solidFill>
                  <a:srgbClr val="19384A"/>
                </a:solidFill>
                <a:latin typeface="Arial"/>
                <a:ea typeface="Arial"/>
                <a:cs typeface="Arial"/>
              </a:rPr>
              <a:t>2. Validate comfort rules against occupant feedback</a:t>
            </a:r>
          </a:p>
          <a:p xmlns:a="http://schemas.openxmlformats.org/drawingml/2006/main">
            <a:pPr>
              <a:defRPr sz="1500" b="0">
                <a:solidFill>
                  <a:srgbClr val="19384A"/>
                </a:solidFill>
                <a:latin typeface="Arial"/>
                <a:ea typeface="Arial"/>
                <a:cs typeface="Arial"/>
              </a:defRPr>
            </a:pPr>
            <a:r>
              <a:rPr sz="1500" b="0">
                <a:solidFill>
                  <a:srgbClr val="19384A"/>
                </a:solidFill>
                <a:latin typeface="Arial"/>
                <a:ea typeface="Arial"/>
                <a:cs typeface="Arial"/>
              </a:rPr>
              <a:t>3. Compare baselines under equal evaluation budgets</a:t>
            </a:r>
          </a:p>
          <a:p xmlns:a="http://schemas.openxmlformats.org/drawingml/2006/main">
            <a:pPr>
              <a:defRPr sz="1500" b="0">
                <a:solidFill>
                  <a:srgbClr val="19384A"/>
                </a:solidFill>
                <a:latin typeface="Arial"/>
                <a:ea typeface="Arial"/>
                <a:cs typeface="Arial"/>
              </a:defRPr>
            </a:pPr>
            <a:r>
              <a:rPr sz="1500" b="0">
                <a:solidFill>
                  <a:srgbClr val="19384A"/>
                </a:solidFill>
                <a:latin typeface="Arial"/>
                <a:ea typeface="Arial"/>
                <a:cs typeface="Arial"/>
              </a:rPr>
              <a:t>4. Test in shadow mode before any control deployment</a:t>
            </a:r>
          </a:p>
        </p:txBody>
      </p:sp>
      <p:sp>
        <p:nvSpPr>
          <p:cNvPr id="10" name="">
            <a:extLst xmlns:a="http://schemas.openxmlformats.org/drawingml/2006/main">
              <a:ext uri="{FF2B5EF4-FFF2-40B4-BE49-F238E27FC236}">
                <a16:creationId xmlns:a16="http://schemas.microsoft.com/office/drawing/2014/main" id="{59A84F00-3615-4C4A-B1C0-F9F33AE702DC}"/>
              </a:ext>
            </a:extLst>
          </p:cNvPr>
          <p:cNvSpPr>
            <a:spLocks xmlns:a="http://schemas.openxmlformats.org/drawingml/2006/main" noGrp="1"/>
          </p:cNvSpPr>
          <p:nvPr/>
        </p:nvSpPr>
        <p:spPr>
          <a:xfrm xmlns:a="http://schemas.openxmlformats.org/drawingml/2006/main">
            <a:off x="685800" y="5010150"/>
            <a:ext cx="10820400" cy="9525"/>
          </a:xfrm>
          <a:prstGeom xmlns:a="http://schemas.openxmlformats.org/drawingml/2006/main" prst="rect">
            <a:avLst/>
          </a:prstGeom>
          <a:solidFill xmlns:a="http://schemas.openxmlformats.org/drawingml/2006/main">
            <a:srgbClr val="D9E3E5"/>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601F00BD-3D4D-44F2-A24C-E3B4E90D69D0}"/>
              </a:ext>
            </a:extLst>
          </p:cNvPr>
          <p:cNvSpPr>
            <a:spLocks xmlns:a="http://schemas.openxmlformats.org/drawingml/2006/main" noGrp="1"/>
          </p:cNvSpPr>
          <p:nvPr/>
        </p:nvSpPr>
        <p:spPr>
          <a:xfrm xmlns:a="http://schemas.openxmlformats.org/drawingml/2006/main">
            <a:off x="685800" y="5257800"/>
            <a:ext cx="2095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625"/>
          </a:bodyPr>
          <a:lstStyle xmlns:a="http://schemas.openxmlformats.org/drawingml/2006/main"/>
          <a:p xmlns:a="http://schemas.openxmlformats.org/drawingml/2006/main">
            <a:pPr>
              <a:defRPr sz="1200" b="1">
                <a:solidFill>
                  <a:srgbClr val="607785"/>
                </a:solidFill>
                <a:latin typeface="Arial"/>
                <a:ea typeface="Arial"/>
                <a:cs typeface="Arial"/>
              </a:defRPr>
            </a:pPr>
            <a:r>
              <a:rPr sz="1200" b="1">
                <a:solidFill>
                  <a:srgbClr val="607785"/>
                </a:solidFill>
                <a:latin typeface="Arial"/>
                <a:ea typeface="Arial"/>
                <a:cs typeface="Arial"/>
              </a:rPr>
              <a:t>Current limitations</a:t>
            </a:r>
          </a:p>
        </p:txBody>
      </p:sp>
      <p:sp>
        <p:nvSpPr>
          <p:cNvPr id="12" name="">
            <a:extLst xmlns:a="http://schemas.openxmlformats.org/drawingml/2006/main">
              <a:ext uri="{FF2B5EF4-FFF2-40B4-BE49-F238E27FC236}">
                <a16:creationId xmlns:a16="http://schemas.microsoft.com/office/drawing/2014/main" id="{D8E6F406-D83F-494A-BCCB-491C3F822825}"/>
              </a:ext>
            </a:extLst>
          </p:cNvPr>
          <p:cNvSpPr>
            <a:spLocks xmlns:a="http://schemas.openxmlformats.org/drawingml/2006/main" noGrp="1"/>
          </p:cNvSpPr>
          <p:nvPr/>
        </p:nvSpPr>
        <p:spPr>
          <a:xfrm xmlns:a="http://schemas.openxmlformats.org/drawingml/2006/main">
            <a:off x="2857500" y="5162550"/>
            <a:ext cx="8382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00" b="1">
                <a:solidFill>
                  <a:srgbClr val="102A3B"/>
                </a:solidFill>
                <a:latin typeface="Arial"/>
                <a:ea typeface="Arial"/>
                <a:cs typeface="Arial"/>
              </a:defRPr>
            </a:pPr>
            <a:r>
              <a:rPr sz="1500" b="1">
                <a:solidFill>
                  <a:srgbClr val="102A3B"/>
                </a:solidFill>
                <a:latin typeface="Arial"/>
                <a:ea typeface="Arial"/>
                <a:cs typeface="Arial"/>
              </a:rPr>
              <a:t>Synthetic inputs · one-hour horizon · approximate energy model · fixed PMV assumptions</a:t>
            </a:r>
          </a:p>
        </p:txBody>
      </p:sp>
      <p:sp>
        <p:nvSpPr>
          <p:cNvPr id="13" name="">
            <a:extLst xmlns:a="http://schemas.openxmlformats.org/drawingml/2006/main">
              <a:ext uri="{FF2B5EF4-FFF2-40B4-BE49-F238E27FC236}">
                <a16:creationId xmlns:a16="http://schemas.microsoft.com/office/drawing/2014/main" id="{181DF39E-9216-40AA-BE5E-9B808D224E80}"/>
              </a:ext>
            </a:extLst>
          </p:cNvPr>
          <p:cNvSpPr>
            <a:spLocks xmlns:a="http://schemas.openxmlformats.org/drawingml/2006/main" noGrp="1"/>
          </p:cNvSpPr>
          <p:nvPr/>
        </p:nvSpPr>
        <p:spPr>
          <a:xfrm xmlns:a="http://schemas.openxmlformats.org/drawingml/2006/main">
            <a:off x="685800" y="5895975"/>
            <a:ext cx="238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428"/>
          </a:bodyPr>
          <a:lstStyle xmlns:a="http://schemas.openxmlformats.org/drawingml/2006/main"/>
          <a:p xmlns:a="http://schemas.openxmlformats.org/drawingml/2006/main">
            <a:pPr>
              <a:defRPr sz="2100" b="1">
                <a:solidFill>
                  <a:srgbClr val="137C78"/>
                </a:solidFill>
                <a:latin typeface="Arial"/>
                <a:ea typeface="Arial"/>
                <a:cs typeface="Arial"/>
              </a:defRPr>
            </a:pPr>
            <a:r>
              <a:rPr sz="2100" b="1">
                <a:solidFill>
                  <a:srgbClr val="137C78"/>
                </a:solidFill>
                <a:latin typeface="Arial"/>
                <a:ea typeface="Arial"/>
                <a:cs typeface="Arial"/>
              </a:rPr>
              <a:t>Questions</a:t>
            </a:r>
          </a:p>
        </p:txBody>
      </p:sp>
    </p:spTree>
    <p:extLst>
      <p:ext uri="{BB962C8B-B14F-4D97-AF65-F5344CB8AC3E}">
        <p14:creationId xmlns:p14="http://schemas.microsoft.com/office/powerpoint/2010/main" val="53730310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2026-10-07T12:40:19.3830000Z</dcterms:created>
  <dcterms:modified xsi:type="dcterms:W3CDTF">2026-10-07T12:40:19.3830000Z</dcterms:modified>
</coreProperties>
</file>